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68" r:id="rId6"/>
    <p:sldId id="271" r:id="rId7"/>
    <p:sldId id="275" r:id="rId8"/>
    <p:sldId id="269" r:id="rId9"/>
    <p:sldId id="270" r:id="rId10"/>
    <p:sldId id="272" r:id="rId11"/>
    <p:sldId id="273" r:id="rId12"/>
    <p:sldId id="274" r:id="rId13"/>
    <p:sldId id="266" r:id="rId1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6"/>
    </p:embeddedFont>
    <p:embeddedFont>
      <p:font typeface="Open Sans" panose="020B0604020202020204" charset="0"/>
      <p:regular r:id="rId17"/>
      <p:bold r:id="rId18"/>
      <p:italic r:id="rId19"/>
      <p:boldItalic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PT Sans Narrow" panose="020B0604020202020204" charset="-52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94" autoAdjust="0"/>
  </p:normalViewPr>
  <p:slideViewPr>
    <p:cSldViewPr snapToGrid="0">
      <p:cViewPr varScale="1">
        <p:scale>
          <a:sx n="147" d="100"/>
          <a:sy n="147" d="100"/>
        </p:scale>
        <p:origin x="-594" y="-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46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e38e5602e2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e38e5602e2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e38e5603a3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e38e5603a3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6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body" idx="1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rop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2136750" y="2819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Виконав: ст. гр. </a:t>
            </a:r>
            <a:r>
              <a:rPr lang="ru" sz="1400" dirty="0" smtClean="0"/>
              <a:t>ІПЗм-24-1 </a:t>
            </a:r>
            <a:r>
              <a:rPr lang="ru" sz="1400" dirty="0"/>
              <a:t>Лабунець Владислав</a:t>
            </a:r>
            <a:endParaRPr sz="1400" dirty="0"/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Керівник: </a:t>
            </a:r>
            <a:r>
              <a:rPr lang="ru" sz="1400" dirty="0" smtClean="0"/>
              <a:t>доц. </a:t>
            </a:r>
            <a:r>
              <a:rPr lang="ru" sz="1400" dirty="0"/>
              <a:t>кафедри ПІ </a:t>
            </a:r>
            <a:r>
              <a:rPr lang="ru" sz="1400" dirty="0" smtClean="0"/>
              <a:t>Назаров О.С.</a:t>
            </a:r>
            <a:endParaRPr sz="1400" dirty="0"/>
          </a:p>
        </p:txBody>
      </p:sp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1003650" y="1435184"/>
            <a:ext cx="7136700" cy="12595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 err="1">
                <a:solidFill>
                  <a:srgbClr val="3D85C6"/>
                </a:solidFill>
              </a:rPr>
              <a:t>Дослідження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методів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використання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рушіїв</a:t>
            </a:r>
            <a:r>
              <a:rPr lang="ru-RU" sz="2400" dirty="0">
                <a:solidFill>
                  <a:srgbClr val="3D85C6"/>
                </a:solidFill>
              </a:rPr>
              <a:t> на </a:t>
            </a:r>
            <a:r>
              <a:rPr lang="ru-RU" sz="2400" dirty="0" err="1">
                <a:solidFill>
                  <a:srgbClr val="3D85C6"/>
                </a:solidFill>
              </a:rPr>
              <a:t>мові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програмування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en-AU" sz="2400" dirty="0">
                <a:solidFill>
                  <a:srgbClr val="3D85C6"/>
                </a:solidFill>
              </a:rPr>
              <a:t>JavaScript. </a:t>
            </a:r>
            <a:r>
              <a:rPr lang="ru-RU" sz="2400" dirty="0" err="1">
                <a:solidFill>
                  <a:srgbClr val="3D85C6"/>
                </a:solidFill>
              </a:rPr>
              <a:t>Алгоритми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процедурної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генерації</a:t>
            </a:r>
            <a:r>
              <a:rPr lang="ru-RU" sz="2400" dirty="0">
                <a:solidFill>
                  <a:srgbClr val="3D85C6"/>
                </a:solidFill>
              </a:rPr>
              <a:t> для </a:t>
            </a:r>
            <a:r>
              <a:rPr lang="ru-RU" sz="2400" dirty="0" err="1">
                <a:solidFill>
                  <a:srgbClr val="3D85C6"/>
                </a:solidFill>
              </a:rPr>
              <a:t>створення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рівнів</a:t>
            </a:r>
            <a:endParaRPr sz="2400" dirty="0">
              <a:solidFill>
                <a:srgbClr val="3D85C6"/>
              </a:solidFill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124459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Вступ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Процедурна</a:t>
            </a:r>
            <a:r>
              <a:rPr lang="ru-RU" sz="1200" dirty="0"/>
              <a:t> </a:t>
            </a:r>
            <a:r>
              <a:rPr lang="ru-RU" sz="1200" dirty="0" err="1"/>
              <a:t>генерація</a:t>
            </a:r>
            <a:r>
              <a:rPr lang="ru-RU" sz="1200" dirty="0"/>
              <a:t> – метод </a:t>
            </a:r>
            <a:r>
              <a:rPr lang="ru-RU" sz="1200" dirty="0" err="1"/>
              <a:t>алгоритмічного</a:t>
            </a:r>
            <a:r>
              <a:rPr lang="ru-RU" sz="1200" dirty="0"/>
              <a:t>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 за </a:t>
            </a:r>
            <a:r>
              <a:rPr lang="ru-RU" sz="1200" dirty="0" err="1"/>
              <a:t>допомогою</a:t>
            </a:r>
            <a:r>
              <a:rPr lang="ru-RU" sz="1200" dirty="0"/>
              <a:t> </a:t>
            </a:r>
            <a:r>
              <a:rPr lang="ru-RU" sz="1200" dirty="0" err="1"/>
              <a:t>комбінацій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, </a:t>
            </a:r>
            <a:r>
              <a:rPr lang="ru-RU" sz="1200" dirty="0" err="1"/>
              <a:t>поєднаних</a:t>
            </a:r>
            <a:r>
              <a:rPr lang="ru-RU" sz="1200" dirty="0"/>
              <a:t> </a:t>
            </a:r>
            <a:r>
              <a:rPr lang="ru-RU" sz="1200" dirty="0" err="1"/>
              <a:t>із</a:t>
            </a:r>
            <a:r>
              <a:rPr lang="ru-RU" sz="1200" dirty="0"/>
              <a:t> </a:t>
            </a:r>
            <a:r>
              <a:rPr lang="ru-RU" sz="1200" dirty="0" err="1"/>
              <a:t>випадковістю</a:t>
            </a:r>
            <a:r>
              <a:rPr lang="ru-RU" sz="1200" dirty="0" smtClean="0"/>
              <a:t>.</a:t>
            </a:r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Використовується</a:t>
            </a:r>
            <a:r>
              <a:rPr lang="ru-RU" sz="1200" dirty="0"/>
              <a:t> для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майже</a:t>
            </a:r>
            <a:r>
              <a:rPr lang="ru-RU" sz="1200" dirty="0"/>
              <a:t> </a:t>
            </a:r>
            <a:r>
              <a:rPr lang="ru-RU" sz="1200" dirty="0" err="1"/>
              <a:t>всіх</a:t>
            </a:r>
            <a:r>
              <a:rPr lang="ru-RU" sz="1200" dirty="0"/>
              <a:t> </a:t>
            </a:r>
            <a:r>
              <a:rPr lang="ru-RU" sz="1200" dirty="0" err="1"/>
              <a:t>елементів</a:t>
            </a:r>
            <a:r>
              <a:rPr lang="ru-RU" sz="1200" dirty="0"/>
              <a:t> </a:t>
            </a:r>
            <a:r>
              <a:rPr lang="ru-RU" sz="1200" dirty="0" err="1"/>
              <a:t>ігрового</a:t>
            </a:r>
            <a:r>
              <a:rPr lang="ru-RU" sz="1200" dirty="0"/>
              <a:t> </a:t>
            </a:r>
            <a:r>
              <a:rPr lang="ru-RU" sz="1200" dirty="0" err="1"/>
              <a:t>процесу</a:t>
            </a:r>
            <a:r>
              <a:rPr lang="ru-RU" sz="1200" dirty="0"/>
              <a:t> – </a:t>
            </a:r>
            <a:r>
              <a:rPr lang="ru-RU" sz="1200" dirty="0" err="1"/>
              <a:t>світів</a:t>
            </a:r>
            <a:r>
              <a:rPr lang="ru-RU" sz="1200" dirty="0"/>
              <a:t>, </a:t>
            </a:r>
            <a:r>
              <a:rPr lang="ru-RU" sz="1200" dirty="0" err="1"/>
              <a:t>рівнів</a:t>
            </a:r>
            <a:r>
              <a:rPr lang="ru-RU" sz="1200" dirty="0"/>
              <a:t>, текстур, моделей. 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Дозволяє</a:t>
            </a:r>
            <a:r>
              <a:rPr lang="ru-RU" sz="1200" dirty="0"/>
              <a:t> </a:t>
            </a:r>
            <a:r>
              <a:rPr lang="ru-RU" sz="1200" dirty="0" err="1"/>
              <a:t>швидко</a:t>
            </a:r>
            <a:r>
              <a:rPr lang="ru-RU" sz="1200" dirty="0"/>
              <a:t> </a:t>
            </a:r>
            <a:r>
              <a:rPr lang="ru-RU" sz="1200" dirty="0" err="1"/>
              <a:t>отримувати</a:t>
            </a:r>
            <a:r>
              <a:rPr lang="ru-RU" sz="1200" dirty="0"/>
              <a:t> </a:t>
            </a:r>
            <a:r>
              <a:rPr lang="ru-RU" sz="1200" dirty="0" err="1"/>
              <a:t>великі</a:t>
            </a:r>
            <a:r>
              <a:rPr lang="ru-RU" sz="1200" dirty="0"/>
              <a:t> </a:t>
            </a:r>
            <a:r>
              <a:rPr lang="ru-RU" sz="1200" dirty="0" err="1"/>
              <a:t>обсяги</a:t>
            </a:r>
            <a:r>
              <a:rPr lang="ru-RU" sz="1200" dirty="0"/>
              <a:t> </a:t>
            </a:r>
            <a:r>
              <a:rPr lang="ru-RU" sz="1200" dirty="0" err="1"/>
              <a:t>унікальних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.</a:t>
            </a:r>
          </a:p>
        </p:txBody>
      </p:sp>
      <p:pic>
        <p:nvPicPr>
          <p:cNvPr id="5" name="Рисунок 4" descr="dungeon13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165" y="864504"/>
            <a:ext cx="3453155" cy="352582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2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16443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Актуальність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Питання</a:t>
            </a:r>
            <a:r>
              <a:rPr lang="ru-RU" sz="1200" dirty="0"/>
              <a:t> </a:t>
            </a:r>
            <a:r>
              <a:rPr lang="ru-RU" sz="1200" dirty="0" err="1"/>
              <a:t>оцінки</a:t>
            </a:r>
            <a:r>
              <a:rPr lang="ru-RU" sz="1200" dirty="0"/>
              <a:t> </a:t>
            </a:r>
            <a:r>
              <a:rPr lang="ru-RU" sz="1200" dirty="0" err="1"/>
              <a:t>якості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Відсутність</a:t>
            </a:r>
            <a:r>
              <a:rPr lang="ru-RU" sz="1200" dirty="0"/>
              <a:t> </a:t>
            </a:r>
            <a:r>
              <a:rPr lang="ru-RU" sz="1200" dirty="0" err="1"/>
              <a:t>універсального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Обмеження</a:t>
            </a:r>
            <a:r>
              <a:rPr lang="ru-RU" sz="1200" dirty="0"/>
              <a:t> </a:t>
            </a:r>
            <a:r>
              <a:rPr lang="ru-RU" sz="1200" dirty="0" err="1"/>
              <a:t>продуктивності</a:t>
            </a:r>
            <a:r>
              <a:rPr lang="ru-RU" sz="1200" dirty="0"/>
              <a:t> веб-</a:t>
            </a:r>
            <a:r>
              <a:rPr lang="ru-RU" sz="1200" dirty="0" err="1"/>
              <a:t>середовища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3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89111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Мета </a:t>
            </a:r>
            <a:r>
              <a:rPr lang="ru-RU" dirty="0" err="1" smtClean="0">
                <a:solidFill>
                  <a:srgbClr val="3D85C6"/>
                </a:solidFill>
              </a:rPr>
              <a:t>роботи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Дослідження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</a:t>
            </a:r>
            <a:r>
              <a:rPr lang="ru-RU" sz="1200" dirty="0" err="1"/>
              <a:t>власного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метрик для </a:t>
            </a:r>
            <a:r>
              <a:rPr lang="ru-RU" sz="1200" dirty="0" err="1"/>
              <a:t>оцінки</a:t>
            </a:r>
            <a:r>
              <a:rPr lang="ru-RU" sz="1200" dirty="0"/>
              <a:t> і </a:t>
            </a:r>
            <a:r>
              <a:rPr lang="ru-RU" sz="1200" dirty="0" err="1"/>
              <a:t>порівняння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4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275946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6371972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Архітектура</a:t>
            </a:r>
            <a:r>
              <a:rPr lang="ru-RU" dirty="0" smtClean="0">
                <a:solidFill>
                  <a:srgbClr val="3D85C6"/>
                </a:solidFill>
              </a:rPr>
              <a:t> і </a:t>
            </a:r>
            <a:r>
              <a:rPr lang="ru-RU" dirty="0" err="1" smtClean="0">
                <a:solidFill>
                  <a:srgbClr val="3D85C6"/>
                </a:solidFill>
              </a:rPr>
              <a:t>представлення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рівня</a:t>
            </a:r>
            <a:endParaRPr lang="ru-RU" dirty="0">
              <a:solidFill>
                <a:srgbClr val="3D85C6"/>
              </a:solidFill>
            </a:endParaRPr>
          </a:p>
        </p:txBody>
      </p:sp>
      <p:pic>
        <p:nvPicPr>
          <p:cNvPr id="1026" name="Picture 2" descr="Курсач магистр архітектура (1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673" y="1495740"/>
            <a:ext cx="3945636" cy="29347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C:\Users\admin\Desktop\5805d2f4558ba29113d7f7e9f454546e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670" y="1495739"/>
            <a:ext cx="3722085" cy="2913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5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9803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/>
              <a:t>М</a:t>
            </a:r>
            <a:r>
              <a:rPr lang="ru-RU" sz="1200" dirty="0" err="1"/>
              <a:t>етод</a:t>
            </a:r>
            <a:r>
              <a:rPr lang="ru-RU" sz="1200" dirty="0"/>
              <a:t> </a:t>
            </a:r>
            <a:r>
              <a:rPr lang="ru-RU" sz="1200" dirty="0" err="1"/>
              <a:t>двійкового</a:t>
            </a:r>
            <a:r>
              <a:rPr lang="ru-RU" sz="1200" dirty="0"/>
              <a:t> </a:t>
            </a:r>
            <a:r>
              <a:rPr lang="ru-RU" sz="1200" dirty="0" err="1"/>
              <a:t>поділу</a:t>
            </a:r>
            <a:r>
              <a:rPr lang="ru-RU" sz="1200" dirty="0"/>
              <a:t> простору</a:t>
            </a:r>
            <a:r>
              <a:rPr lang="en-US" sz="1200" dirty="0"/>
              <a:t> (</a:t>
            </a:r>
            <a:r>
              <a:rPr lang="en-AU" sz="1200" dirty="0"/>
              <a:t>BSP</a:t>
            </a:r>
            <a:r>
              <a:rPr lang="en-AU" sz="1200" dirty="0" smtClean="0"/>
              <a:t>)</a:t>
            </a:r>
            <a:endParaRPr lang="uk-UA" sz="1200" dirty="0" smtClean="0"/>
          </a:p>
          <a:p>
            <a:pPr marL="114300" indent="0">
              <a:buNone/>
            </a:pPr>
            <a:endParaRPr lang="uk-UA" sz="1200" dirty="0"/>
          </a:p>
          <a:p>
            <a:r>
              <a:rPr lang="uk-UA" sz="1200" dirty="0"/>
              <a:t>Випадкове блукання (</a:t>
            </a:r>
            <a:r>
              <a:rPr lang="en-AU" sz="1200" dirty="0"/>
              <a:t>Random Walk</a:t>
            </a:r>
            <a:r>
              <a:rPr lang="uk-UA" sz="1200" dirty="0" smtClean="0"/>
              <a:t>)</a:t>
            </a:r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6</a:t>
            </a:fld>
            <a:endParaRPr lang="ru"/>
          </a:p>
        </p:txBody>
      </p:sp>
      <p:pic>
        <p:nvPicPr>
          <p:cNvPr id="1028" name="Picture 4" descr="4 Двійковий поділ простору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26978"/>
            <a:ext cx="3573868" cy="214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 descr="Випадкове блукання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9440"/>
            <a:ext cx="3573868" cy="2143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956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 smtClean="0"/>
              <a:t>Клітинні </a:t>
            </a:r>
            <a:r>
              <a:rPr lang="uk-UA" sz="1200" dirty="0"/>
              <a:t>Автомати (</a:t>
            </a:r>
            <a:r>
              <a:rPr lang="en-AU" sz="1200" dirty="0"/>
              <a:t>Cellular</a:t>
            </a:r>
            <a:r>
              <a:rPr lang="uk-UA" sz="1200" dirty="0"/>
              <a:t> </a:t>
            </a:r>
            <a:r>
              <a:rPr lang="en-AU" sz="1200" dirty="0"/>
              <a:t>Automata</a:t>
            </a:r>
            <a:r>
              <a:rPr lang="uk-UA" sz="1200" dirty="0" smtClean="0"/>
              <a:t>)</a:t>
            </a:r>
          </a:p>
          <a:p>
            <a:endParaRPr lang="uk-UA" sz="1200" dirty="0"/>
          </a:p>
          <a:p>
            <a:r>
              <a:rPr lang="uk-UA" sz="1200" dirty="0"/>
              <a:t>Шум </a:t>
            </a:r>
            <a:r>
              <a:rPr lang="uk-UA" sz="1200" dirty="0" err="1"/>
              <a:t>Перліна</a:t>
            </a:r>
            <a:r>
              <a:rPr lang="uk-UA" sz="1200" dirty="0"/>
              <a:t> (</a:t>
            </a:r>
            <a:r>
              <a:rPr lang="en-AU" sz="1200" dirty="0" err="1"/>
              <a:t>Perlin</a:t>
            </a:r>
            <a:r>
              <a:rPr lang="en-AU" sz="1200" dirty="0"/>
              <a:t> Noise</a:t>
            </a:r>
            <a:r>
              <a:rPr lang="uk-UA" sz="1200" dirty="0" smtClean="0"/>
              <a:t>)</a:t>
            </a:r>
          </a:p>
          <a:p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7</a:t>
            </a:fld>
            <a:endParaRPr lang="ru"/>
          </a:p>
        </p:txBody>
      </p:sp>
      <p:pic>
        <p:nvPicPr>
          <p:cNvPr id="8" name="Picture 2" descr="3 Клітинні автомати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01039"/>
            <a:ext cx="3573868" cy="2152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Шум Перліна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2956"/>
            <a:ext cx="3573868" cy="214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00588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Комбінований</a:t>
            </a:r>
            <a:r>
              <a:rPr lang="ru-RU" dirty="0" smtClean="0">
                <a:solidFill>
                  <a:srgbClr val="3D85C6"/>
                </a:solidFill>
              </a:rPr>
              <a:t> алгоритм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7055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AU" sz="1200" dirty="0"/>
              <a:t>BSP → </a:t>
            </a:r>
            <a:r>
              <a:rPr lang="uk-UA" sz="1200" dirty="0"/>
              <a:t>структура</a:t>
            </a:r>
          </a:p>
          <a:p>
            <a:r>
              <a:rPr lang="en-AU" sz="1200" dirty="0"/>
              <a:t>CA → </a:t>
            </a:r>
            <a:r>
              <a:rPr lang="uk-UA" sz="1200" dirty="0"/>
              <a:t>природність</a:t>
            </a:r>
          </a:p>
        </p:txBody>
      </p:sp>
      <p:sp>
        <p:nvSpPr>
          <p:cNvPr id="7" name="Google Shape;73;p14"/>
          <p:cNvSpPr txBox="1">
            <a:spLocks/>
          </p:cNvSpPr>
          <p:nvPr/>
        </p:nvSpPr>
        <p:spPr>
          <a:xfrm>
            <a:off x="4218590" y="1342279"/>
            <a:ext cx="3218732" cy="70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sz="1200" dirty="0"/>
              <a:t>Баланс </a:t>
            </a:r>
            <a:r>
              <a:rPr lang="ru-RU" sz="1200" dirty="0" err="1"/>
              <a:t>між</a:t>
            </a:r>
            <a:r>
              <a:rPr lang="ru-RU" sz="1200" dirty="0"/>
              <a:t> </a:t>
            </a:r>
            <a:r>
              <a:rPr lang="ru-RU" sz="1200" dirty="0" err="1"/>
              <a:t>структурованістю</a:t>
            </a:r>
            <a:r>
              <a:rPr lang="ru-RU" sz="1200" dirty="0"/>
              <a:t> і </a:t>
            </a:r>
            <a:r>
              <a:rPr lang="ru-RU" sz="1200" dirty="0" err="1"/>
              <a:t>природністю</a:t>
            </a:r>
            <a:endParaRPr lang="ru-RU" sz="1200" dirty="0"/>
          </a:p>
        </p:txBody>
      </p:sp>
      <p:pic>
        <p:nvPicPr>
          <p:cNvPr id="8" name="Picture 2" descr="4 Двійковий поділ простору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009" y="2157098"/>
            <a:ext cx="3851864" cy="2314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Комбінований алгоритм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666" y="2141905"/>
            <a:ext cx="3885295" cy="233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8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618368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Метрики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Google Shape;73;p14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uk-UA" sz="1200" dirty="0"/>
                  <a:t>Коефіцієнт прохідності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𝑊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uk-UA" sz="1200" dirty="0"/>
              </a:p>
            </p:txBody>
          </p:sp>
        </mc:Choice>
        <mc:Fallback xmlns="">
          <p:sp>
            <p:nvSpPr>
              <p:cNvPr id="10" name="Google Shape;73;p1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  <a:blipFill rotWithShape="1">
                <a:blip r:embed="rId3"/>
                <a:stretch>
                  <a:fillRect t="-1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73;p14"/>
              <p:cNvSpPr txBox="1">
                <a:spLocks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Прямолінійність меж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𝑆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𝑠𝑡𝑟𝑎𝑖𝑔h𝑡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𝑐𝑜𝑛𝑡𝑜𝑢𝑟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1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blipFill rotWithShape="1">
                <a:blip r:embed="rId4"/>
                <a:stretch>
                  <a:fillRect t="-14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73;p14"/>
              <p:cNvSpPr txBox="1">
                <a:spLocks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Кількість компонент </a:t>
                </a:r>
                <a:r>
                  <a:rPr lang="uk-UA" sz="1200" dirty="0" smtClean="0"/>
                  <a:t>зв’язності</a:t>
                </a:r>
              </a:p>
              <a:p>
                <a:endParaRPr lang="uk-UA" sz="1200" dirty="0"/>
              </a:p>
              <a:p>
                <a:r>
                  <a:rPr lang="uk-UA" sz="1200" dirty="0"/>
                  <a:t>Відносний розмір найбільшої компоненти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𝐿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𝑙𝑎𝑟𝑔𝑒𝑠𝑡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2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blipFill rotWithShape="1">
                <a:blip r:embed="rId5"/>
                <a:stretch>
                  <a:fillRect t="-10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9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23519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Проведення</a:t>
            </a:r>
            <a:r>
              <a:rPr lang="ru-RU" dirty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експерименту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005143"/>
              </p:ext>
            </p:extLst>
          </p:nvPr>
        </p:nvGraphicFramePr>
        <p:xfrm>
          <a:off x="616086" y="1225684"/>
          <a:ext cx="7971557" cy="32847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95080"/>
                <a:gridCol w="1121923"/>
                <a:gridCol w="1511030"/>
                <a:gridCol w="1303508"/>
                <a:gridCol w="1240016"/>
              </a:tblGrid>
              <a:tr h="53310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W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Компоненти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L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S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 </a:t>
                      </a:r>
                      <a:r>
                        <a:rPr lang="uk-UA" sz="1200" dirty="0" smtClean="0">
                          <a:effectLst/>
                        </a:rPr>
                        <a:t>двійкового</a:t>
                      </a:r>
                      <a:r>
                        <a:rPr lang="uk-UA" sz="1200" baseline="0" dirty="0" smtClean="0">
                          <a:effectLst/>
                        </a:rPr>
                        <a:t> </a:t>
                      </a:r>
                      <a:r>
                        <a:rPr lang="uk-UA" sz="1200" dirty="0" smtClean="0">
                          <a:effectLst/>
                        </a:rPr>
                        <a:t>поділу </a:t>
                      </a:r>
                      <a:r>
                        <a:rPr lang="uk-UA" sz="1200" dirty="0">
                          <a:effectLst/>
                        </a:rPr>
                        <a:t>простору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0.31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0.95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Клітинні автомати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0.48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2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0.8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0.06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Шум </a:t>
                      </a:r>
                      <a:r>
                        <a:rPr lang="uk-UA" sz="1200" dirty="0" err="1">
                          <a:effectLst/>
                        </a:rPr>
                        <a:t>Перліна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0.49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16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0.63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0.17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Випадкове блукання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0.35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0.05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Комбінований 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0.41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0.22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10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607916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Багатокритеріальна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оцінка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173023"/>
              </p:ext>
            </p:extLst>
          </p:nvPr>
        </p:nvGraphicFramePr>
        <p:xfrm>
          <a:off x="1168528" y="1763950"/>
          <a:ext cx="6380136" cy="23022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50870"/>
                <a:gridCol w="3229266"/>
              </a:tblGrid>
              <a:tr h="38203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Корисність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 двійкового поділу простору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0.65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Клітинні автомати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0.36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Шум </a:t>
                      </a:r>
                      <a:r>
                        <a:rPr lang="uk-UA" sz="1400" dirty="0" err="1">
                          <a:effectLst/>
                        </a:rPr>
                        <a:t>Перліна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0.305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Випадкове блукання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0.917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Комбінований 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0.946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Номер слайда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11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785956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Висновки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4" y="1353381"/>
            <a:ext cx="3456103" cy="18437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200" dirty="0" err="1"/>
              <a:t>Проаналізовано</a:t>
            </a:r>
            <a:r>
              <a:rPr lang="ru-RU" sz="1200" dirty="0"/>
              <a:t> </a:t>
            </a:r>
            <a:r>
              <a:rPr lang="ru-RU" sz="1200" dirty="0" err="1"/>
              <a:t>алгоритми</a:t>
            </a:r>
            <a:r>
              <a:rPr lang="ru-RU" sz="1200" dirty="0"/>
              <a:t>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Реалізовано</a:t>
            </a:r>
            <a:r>
              <a:rPr lang="ru-RU" sz="1200" dirty="0"/>
              <a:t> систему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Запропоновано</a:t>
            </a:r>
            <a:r>
              <a:rPr lang="ru-RU" sz="1200" dirty="0"/>
              <a:t> метрики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Розроблено</a:t>
            </a:r>
            <a:r>
              <a:rPr lang="ru-RU" sz="1200" dirty="0"/>
              <a:t> </a:t>
            </a:r>
            <a:r>
              <a:rPr lang="ru-RU" sz="1200" dirty="0" err="1"/>
              <a:t>гібридний</a:t>
            </a:r>
            <a:r>
              <a:rPr lang="ru-RU" sz="1200" dirty="0"/>
              <a:t> алгоритм </a:t>
            </a:r>
            <a:r>
              <a:rPr lang="ru-RU" sz="12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12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913818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ctrTitle"/>
          </p:nvPr>
        </p:nvSpPr>
        <p:spPr>
          <a:xfrm>
            <a:off x="917750" y="1562879"/>
            <a:ext cx="7136700" cy="14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3D85C6"/>
                </a:solidFill>
              </a:rPr>
              <a:t>Дякую за увагу!</a:t>
            </a:r>
            <a:endParaRPr sz="6000">
              <a:solidFill>
                <a:srgbClr val="3D85C6"/>
              </a:solidFill>
            </a:endParaRPr>
          </a:p>
        </p:txBody>
      </p:sp>
      <p:sp>
        <p:nvSpPr>
          <p:cNvPr id="148" name="Google Shape;148;p23"/>
          <p:cNvSpPr/>
          <p:nvPr/>
        </p:nvSpPr>
        <p:spPr>
          <a:xfrm>
            <a:off x="1171100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9" name="Google Shape;149;p23"/>
          <p:cNvSpPr/>
          <p:nvPr/>
        </p:nvSpPr>
        <p:spPr>
          <a:xfrm>
            <a:off x="6550375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13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283</Words>
  <Application>Microsoft Office PowerPoint</Application>
  <PresentationFormat>Экран (16:9)</PresentationFormat>
  <Paragraphs>112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Arial</vt:lpstr>
      <vt:lpstr>Cambria Math</vt:lpstr>
      <vt:lpstr>Times New Roman</vt:lpstr>
      <vt:lpstr>Open Sans</vt:lpstr>
      <vt:lpstr>Calibri</vt:lpstr>
      <vt:lpstr>PT Sans Narrow</vt:lpstr>
      <vt:lpstr>MS Mincho</vt:lpstr>
      <vt:lpstr>Tropic</vt:lpstr>
      <vt:lpstr>Дослідження методів використання ігрових рушіїв на мові програмування JavaScript. Алгоритми процедурної генерації для створення ігрових рівнів</vt:lpstr>
      <vt:lpstr>Вступ</vt:lpstr>
      <vt:lpstr>Актуальність</vt:lpstr>
      <vt:lpstr>Мета роботи</vt:lpstr>
      <vt:lpstr>Архітектура і представлення рівня</vt:lpstr>
      <vt:lpstr>Алгоритми</vt:lpstr>
      <vt:lpstr>Алгоритми</vt:lpstr>
      <vt:lpstr>Комбінований алгоритм</vt:lpstr>
      <vt:lpstr>Метрики</vt:lpstr>
      <vt:lpstr>Проведення експерименту</vt:lpstr>
      <vt:lpstr>Багатокритеріальна оцінка</vt:lpstr>
      <vt:lpstr>Висновки</vt:lpstr>
      <vt:lpstr>Дякую за увагу!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методів використання ігрових рушіїв на мові програмування JavaScript. Алгоритми процедурної генерації для створення ігрових рівнів</dc:title>
  <cp:lastModifiedBy>admin</cp:lastModifiedBy>
  <cp:revision>19</cp:revision>
  <dcterms:modified xsi:type="dcterms:W3CDTF">2026-05-08T06:43:53Z</dcterms:modified>
</cp:coreProperties>
</file>