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67" r:id="rId5"/>
    <p:sldId id="268" r:id="rId6"/>
    <p:sldId id="271" r:id="rId7"/>
    <p:sldId id="275" r:id="rId8"/>
    <p:sldId id="269" r:id="rId9"/>
    <p:sldId id="270" r:id="rId10"/>
    <p:sldId id="272" r:id="rId11"/>
    <p:sldId id="273" r:id="rId12"/>
    <p:sldId id="274" r:id="rId13"/>
    <p:sldId id="266" r:id="rId14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Open Sans" panose="020B0604020202020204" charset="0"/>
      <p:regular r:id="rId21"/>
      <p:bold r:id="rId22"/>
      <p:italic r:id="rId23"/>
      <p:boldItalic r:id="rId24"/>
    </p:embeddedFont>
    <p:embeddedFont>
      <p:font typeface="PT Sans Narrow" panose="020B0604020202020204" charset="-52"/>
      <p:regular r:id="rId25"/>
      <p:bold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94" autoAdjust="0"/>
  </p:normalViewPr>
  <p:slideViewPr>
    <p:cSldViewPr snapToGrid="0">
      <p:cViewPr>
        <p:scale>
          <a:sx n="157" d="100"/>
          <a:sy n="157" d="100"/>
        </p:scale>
        <p:origin x="-29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53346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e38e5602e2_0_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e38e5602e2_0_5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e38e5603a3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e38e5603a3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7007735" y="3176888"/>
            <a:ext cx="562200" cy="0"/>
          </a:xfrm>
          <a:prstGeom prst="straightConnector1">
            <a:avLst/>
          </a:prstGeom>
          <a:noFill/>
          <a:ln w="762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11;p2"/>
          <p:cNvCxnSpPr/>
          <p:nvPr/>
        </p:nvCxnSpPr>
        <p:spPr>
          <a:xfrm>
            <a:off x="1575035" y="3158252"/>
            <a:ext cx="562200" cy="0"/>
          </a:xfrm>
          <a:prstGeom prst="straightConnector1">
            <a:avLst/>
          </a:prstGeom>
          <a:noFill/>
          <a:ln w="762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" name="Google Shape;12;p2"/>
          <p:cNvGrpSpPr/>
          <p:nvPr/>
        </p:nvGrpSpPr>
        <p:grpSpPr>
          <a:xfrm>
            <a:off x="1004144" y="1022025"/>
            <a:ext cx="7136668" cy="152400"/>
            <a:chOff x="1346429" y="1011300"/>
            <a:chExt cx="6452100" cy="152400"/>
          </a:xfrm>
        </p:grpSpPr>
        <p:cxnSp>
          <p:nvCxnSpPr>
            <p:cNvPr id="13" name="Google Shape;13;p2"/>
            <p:cNvCxnSpPr/>
            <p:nvPr/>
          </p:nvCxnSpPr>
          <p:spPr>
            <a:xfrm rot="10800000">
              <a:off x="1346429" y="1011300"/>
              <a:ext cx="6452100" cy="0"/>
            </a:xfrm>
            <a:prstGeom prst="straightConnector1">
              <a:avLst/>
            </a:prstGeom>
            <a:noFill/>
            <a:ln w="762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" name="Google Shape;14;p2"/>
            <p:cNvCxnSpPr/>
            <p:nvPr/>
          </p:nvCxnSpPr>
          <p:spPr>
            <a:xfrm rot="10800000">
              <a:off x="1346429" y="1163700"/>
              <a:ext cx="64521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5" name="Google Shape;15;p2"/>
          <p:cNvGrpSpPr/>
          <p:nvPr/>
        </p:nvGrpSpPr>
        <p:grpSpPr>
          <a:xfrm>
            <a:off x="1004151" y="3969100"/>
            <a:ext cx="7136668" cy="152400"/>
            <a:chOff x="1346435" y="3969088"/>
            <a:chExt cx="6452100" cy="152400"/>
          </a:xfrm>
        </p:grpSpPr>
        <p:cxnSp>
          <p:nvCxnSpPr>
            <p:cNvPr id="16" name="Google Shape;16;p2"/>
            <p:cNvCxnSpPr/>
            <p:nvPr/>
          </p:nvCxnSpPr>
          <p:spPr>
            <a:xfrm>
              <a:off x="1346435" y="4121488"/>
              <a:ext cx="6452100" cy="0"/>
            </a:xfrm>
            <a:prstGeom prst="straightConnector1">
              <a:avLst/>
            </a:prstGeom>
            <a:noFill/>
            <a:ln w="762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" name="Google Shape;17;p2"/>
            <p:cNvCxnSpPr/>
            <p:nvPr/>
          </p:nvCxnSpPr>
          <p:spPr>
            <a:xfrm>
              <a:off x="1346435" y="3969088"/>
              <a:ext cx="64521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8" name="Google Shape;18;p2"/>
          <p:cNvSpPr txBox="1">
            <a:spLocks noGrp="1"/>
          </p:cNvSpPr>
          <p:nvPr>
            <p:ph type="ctrTitle"/>
          </p:nvPr>
        </p:nvSpPr>
        <p:spPr>
          <a:xfrm>
            <a:off x="1004150" y="1751764"/>
            <a:ext cx="7136700" cy="102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2137225" y="2850039"/>
            <a:ext cx="487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-50" y="2571900"/>
            <a:ext cx="9144000" cy="25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311700" y="814800"/>
            <a:ext cx="8571300" cy="9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1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311700" y="1266175"/>
            <a:ext cx="39999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4832400" y="1266175"/>
            <a:ext cx="39999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6"/>
        </a:solid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36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265500" y="1039675"/>
            <a:ext cx="4045200" cy="167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265500" y="27268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>
            <a:spLocks noGrp="1"/>
          </p:cNvSpPr>
          <p:nvPr>
            <p:ph type="body" idx="1"/>
          </p:nvPr>
        </p:nvSpPr>
        <p:spPr>
          <a:xfrm>
            <a:off x="311700" y="4230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 Narrow"/>
              <a:buNone/>
              <a:defRPr sz="2400">
                <a:latin typeface="PT Sans Narrow"/>
                <a:ea typeface="PT Sans Narrow"/>
                <a:cs typeface="PT Sans Narrow"/>
                <a:sym typeface="PT Sans Narrow"/>
              </a:defRPr>
            </a:lvl1pPr>
          </a:lstStyle>
          <a:p>
            <a:endParaRPr/>
          </a:p>
        </p:txBody>
      </p:sp>
      <p:sp>
        <p:nvSpPr>
          <p:cNvPr id="54" name="Google Shape;5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304850"/>
            <a:ext cx="85206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" name="Google Shape;58;p11"/>
          <p:cNvSpPr txBox="1">
            <a:spLocks noGrp="1"/>
          </p:cNvSpPr>
          <p:nvPr>
            <p:ph type="body" idx="1"/>
          </p:nvPr>
        </p:nvSpPr>
        <p:spPr>
          <a:xfrm>
            <a:off x="311700" y="299565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ropic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>
            <a:spLocks noGrp="1"/>
          </p:cNvSpPr>
          <p:nvPr>
            <p:ph type="subTitle" idx="1"/>
          </p:nvPr>
        </p:nvSpPr>
        <p:spPr>
          <a:xfrm>
            <a:off x="2136750" y="2819039"/>
            <a:ext cx="487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/>
              <a:t>Виконав: ст. гр. </a:t>
            </a:r>
            <a:r>
              <a:rPr lang="ru" sz="1400" dirty="0" smtClean="0"/>
              <a:t>ІПЗм-24-1 </a:t>
            </a:r>
            <a:r>
              <a:rPr lang="ru" sz="1400" dirty="0"/>
              <a:t>Лабунець Владислав</a:t>
            </a:r>
            <a:endParaRPr sz="1400" dirty="0"/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/>
              <a:t>Керівник: </a:t>
            </a:r>
            <a:r>
              <a:rPr lang="ru" sz="1400" dirty="0" smtClean="0"/>
              <a:t>доц. </a:t>
            </a:r>
            <a:r>
              <a:rPr lang="ru" sz="1400" dirty="0"/>
              <a:t>кафедри ПІ </a:t>
            </a:r>
            <a:r>
              <a:rPr lang="ru" sz="1400" dirty="0" smtClean="0"/>
              <a:t>Назаров О.С.</a:t>
            </a:r>
            <a:endParaRPr sz="1400" dirty="0"/>
          </a:p>
        </p:txBody>
      </p:sp>
      <p:sp>
        <p:nvSpPr>
          <p:cNvPr id="67" name="Google Shape;67;p13"/>
          <p:cNvSpPr txBox="1">
            <a:spLocks noGrp="1"/>
          </p:cNvSpPr>
          <p:nvPr>
            <p:ph type="ctrTitle"/>
          </p:nvPr>
        </p:nvSpPr>
        <p:spPr>
          <a:xfrm>
            <a:off x="1003650" y="1435184"/>
            <a:ext cx="7136700" cy="125957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2400" dirty="0" err="1">
                <a:solidFill>
                  <a:srgbClr val="3D85C6"/>
                </a:solidFill>
              </a:rPr>
              <a:t>Дослідження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методів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використання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ігрових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рушіїв</a:t>
            </a:r>
            <a:r>
              <a:rPr lang="ru-RU" sz="2400" dirty="0">
                <a:solidFill>
                  <a:srgbClr val="3D85C6"/>
                </a:solidFill>
              </a:rPr>
              <a:t> на </a:t>
            </a:r>
            <a:r>
              <a:rPr lang="ru-RU" sz="2400" dirty="0" err="1">
                <a:solidFill>
                  <a:srgbClr val="3D85C6"/>
                </a:solidFill>
              </a:rPr>
              <a:t>мові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програмування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en-AU" sz="2400" dirty="0">
                <a:solidFill>
                  <a:srgbClr val="3D85C6"/>
                </a:solidFill>
              </a:rPr>
              <a:t>JavaScript. </a:t>
            </a:r>
            <a:r>
              <a:rPr lang="ru-RU" sz="2400" dirty="0" err="1">
                <a:solidFill>
                  <a:srgbClr val="3D85C6"/>
                </a:solidFill>
              </a:rPr>
              <a:t>Алгоритми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процедурної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генерації</a:t>
            </a:r>
            <a:r>
              <a:rPr lang="ru-RU" sz="2400" dirty="0">
                <a:solidFill>
                  <a:srgbClr val="3D85C6"/>
                </a:solidFill>
              </a:rPr>
              <a:t> для </a:t>
            </a:r>
            <a:r>
              <a:rPr lang="ru-RU" sz="2400" dirty="0" err="1">
                <a:solidFill>
                  <a:srgbClr val="3D85C6"/>
                </a:solidFill>
              </a:rPr>
              <a:t>створення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ігрових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рівнів</a:t>
            </a:r>
            <a:endParaRPr sz="2400" dirty="0">
              <a:solidFill>
                <a:srgbClr val="3D85C6"/>
              </a:solidFill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</a:t>
            </a:fld>
            <a:endParaRPr lang="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1244597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Вступ</a:t>
            </a:r>
            <a:endParaRPr dirty="0">
              <a:solidFill>
                <a:srgbClr val="3D85C6"/>
              </a:solidFill>
            </a:endParaRPr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1"/>
          </p:nvPr>
        </p:nvSpPr>
        <p:spPr>
          <a:xfrm>
            <a:off x="311700" y="1266325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1200" dirty="0" err="1"/>
              <a:t>Процедурна</a:t>
            </a:r>
            <a:r>
              <a:rPr lang="ru-RU" sz="1200" dirty="0"/>
              <a:t> </a:t>
            </a:r>
            <a:r>
              <a:rPr lang="ru-RU" sz="1200" dirty="0" err="1"/>
              <a:t>генерація</a:t>
            </a:r>
            <a:r>
              <a:rPr lang="ru-RU" sz="1200" dirty="0"/>
              <a:t> – метод </a:t>
            </a:r>
            <a:r>
              <a:rPr lang="ru-RU" sz="1200" dirty="0" err="1"/>
              <a:t>алгоритмічного</a:t>
            </a:r>
            <a:r>
              <a:rPr lang="ru-RU" sz="1200" dirty="0"/>
              <a:t> </a:t>
            </a:r>
            <a:r>
              <a:rPr lang="ru-RU" sz="1200" dirty="0" err="1"/>
              <a:t>створення</a:t>
            </a:r>
            <a:r>
              <a:rPr lang="ru-RU" sz="1200" dirty="0"/>
              <a:t> </a:t>
            </a:r>
            <a:r>
              <a:rPr lang="ru-RU" sz="1200" dirty="0" err="1"/>
              <a:t>даних</a:t>
            </a:r>
            <a:r>
              <a:rPr lang="ru-RU" sz="1200" dirty="0"/>
              <a:t> за </a:t>
            </a:r>
            <a:r>
              <a:rPr lang="ru-RU" sz="1200" dirty="0" err="1"/>
              <a:t>допомогою</a:t>
            </a:r>
            <a:r>
              <a:rPr lang="ru-RU" sz="1200" dirty="0"/>
              <a:t> </a:t>
            </a:r>
            <a:r>
              <a:rPr lang="ru-RU" sz="1200" dirty="0" err="1"/>
              <a:t>комбінацій</a:t>
            </a:r>
            <a:r>
              <a:rPr lang="ru-RU" sz="1200" dirty="0"/>
              <a:t> </a:t>
            </a:r>
            <a:r>
              <a:rPr lang="ru-RU" sz="1200" dirty="0" err="1"/>
              <a:t>алгоритмів</a:t>
            </a:r>
            <a:r>
              <a:rPr lang="ru-RU" sz="1200" dirty="0"/>
              <a:t>, </a:t>
            </a:r>
            <a:r>
              <a:rPr lang="ru-RU" sz="1200" dirty="0" err="1"/>
              <a:t>поєднаних</a:t>
            </a:r>
            <a:r>
              <a:rPr lang="ru-RU" sz="1200" dirty="0"/>
              <a:t> </a:t>
            </a:r>
            <a:r>
              <a:rPr lang="ru-RU" sz="1200" dirty="0" err="1"/>
              <a:t>із</a:t>
            </a:r>
            <a:r>
              <a:rPr lang="ru-RU" sz="1200" dirty="0"/>
              <a:t> </a:t>
            </a:r>
            <a:r>
              <a:rPr lang="ru-RU" sz="1200" dirty="0" err="1"/>
              <a:t>випадковістю</a:t>
            </a:r>
            <a:r>
              <a:rPr lang="ru-RU" sz="1200" dirty="0" smtClean="0"/>
              <a:t>.</a:t>
            </a:r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Використовується</a:t>
            </a:r>
            <a:r>
              <a:rPr lang="ru-RU" sz="1200" dirty="0"/>
              <a:t> для </a:t>
            </a:r>
            <a:r>
              <a:rPr lang="ru-RU" sz="1200" dirty="0" err="1"/>
              <a:t>створення</a:t>
            </a:r>
            <a:r>
              <a:rPr lang="ru-RU" sz="1200" dirty="0"/>
              <a:t> </a:t>
            </a:r>
            <a:r>
              <a:rPr lang="ru-RU" sz="1200" dirty="0" err="1"/>
              <a:t>майже</a:t>
            </a:r>
            <a:r>
              <a:rPr lang="ru-RU" sz="1200" dirty="0"/>
              <a:t> </a:t>
            </a:r>
            <a:r>
              <a:rPr lang="ru-RU" sz="1200" dirty="0" err="1"/>
              <a:t>всіх</a:t>
            </a:r>
            <a:r>
              <a:rPr lang="ru-RU" sz="1200" dirty="0"/>
              <a:t> </a:t>
            </a:r>
            <a:r>
              <a:rPr lang="ru-RU" sz="1200" dirty="0" err="1"/>
              <a:t>елементів</a:t>
            </a:r>
            <a:r>
              <a:rPr lang="ru-RU" sz="1200" dirty="0"/>
              <a:t> </a:t>
            </a:r>
            <a:r>
              <a:rPr lang="ru-RU" sz="1200" dirty="0" err="1"/>
              <a:t>ігрового</a:t>
            </a:r>
            <a:r>
              <a:rPr lang="ru-RU" sz="1200" dirty="0"/>
              <a:t> </a:t>
            </a:r>
            <a:r>
              <a:rPr lang="ru-RU" sz="1200" dirty="0" err="1"/>
              <a:t>процесу</a:t>
            </a:r>
            <a:r>
              <a:rPr lang="ru-RU" sz="1200" dirty="0"/>
              <a:t> – </a:t>
            </a:r>
            <a:r>
              <a:rPr lang="ru-RU" sz="1200" dirty="0" err="1"/>
              <a:t>світів</a:t>
            </a:r>
            <a:r>
              <a:rPr lang="ru-RU" sz="1200" dirty="0"/>
              <a:t>, </a:t>
            </a:r>
            <a:r>
              <a:rPr lang="ru-RU" sz="1200" dirty="0" err="1"/>
              <a:t>рівнів</a:t>
            </a:r>
            <a:r>
              <a:rPr lang="ru-RU" sz="1200" dirty="0"/>
              <a:t>, текстур, моделей. 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Дозволяє</a:t>
            </a:r>
            <a:r>
              <a:rPr lang="ru-RU" sz="1200" dirty="0"/>
              <a:t> </a:t>
            </a:r>
            <a:r>
              <a:rPr lang="ru-RU" sz="1200" dirty="0" err="1"/>
              <a:t>швидко</a:t>
            </a:r>
            <a:r>
              <a:rPr lang="ru-RU" sz="1200" dirty="0"/>
              <a:t> </a:t>
            </a:r>
            <a:r>
              <a:rPr lang="ru-RU" sz="1200" dirty="0" err="1"/>
              <a:t>отримувати</a:t>
            </a:r>
            <a:r>
              <a:rPr lang="ru-RU" sz="1200" dirty="0"/>
              <a:t> </a:t>
            </a:r>
            <a:r>
              <a:rPr lang="ru-RU" sz="1200" dirty="0" err="1"/>
              <a:t>великі</a:t>
            </a:r>
            <a:r>
              <a:rPr lang="ru-RU" sz="1200" dirty="0"/>
              <a:t> </a:t>
            </a:r>
            <a:r>
              <a:rPr lang="ru-RU" sz="1200" dirty="0" err="1"/>
              <a:t>обсяги</a:t>
            </a:r>
            <a:r>
              <a:rPr lang="ru-RU" sz="1200" dirty="0"/>
              <a:t> </a:t>
            </a:r>
            <a:r>
              <a:rPr lang="ru-RU" sz="1200" dirty="0" err="1"/>
              <a:t>унікальних</a:t>
            </a:r>
            <a:r>
              <a:rPr lang="ru-RU" sz="1200" dirty="0"/>
              <a:t> </a:t>
            </a:r>
            <a:r>
              <a:rPr lang="ru-RU" sz="1200" dirty="0" err="1"/>
              <a:t>даних</a:t>
            </a:r>
            <a:r>
              <a:rPr lang="ru-RU" sz="1200" dirty="0"/>
              <a:t>.</a:t>
            </a:r>
          </a:p>
        </p:txBody>
      </p:sp>
      <p:pic>
        <p:nvPicPr>
          <p:cNvPr id="5" name="Рисунок 4" descr="dungeon13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8165" y="864504"/>
            <a:ext cx="3453155" cy="352582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2</a:t>
            </a:fld>
            <a:endParaRPr lang="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316443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Актуальність</a:t>
            </a:r>
            <a:endParaRPr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608426" y="1357159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1200" dirty="0" err="1"/>
              <a:t>Питання</a:t>
            </a:r>
            <a:r>
              <a:rPr lang="ru-RU" sz="1200" dirty="0"/>
              <a:t> </a:t>
            </a:r>
            <a:r>
              <a:rPr lang="ru-RU" sz="1200" dirty="0" err="1"/>
              <a:t>оцінки</a:t>
            </a:r>
            <a:r>
              <a:rPr lang="ru-RU" sz="1200" dirty="0"/>
              <a:t> </a:t>
            </a:r>
            <a:r>
              <a:rPr lang="ru-RU" sz="1200" dirty="0" err="1"/>
              <a:t>якості</a:t>
            </a:r>
            <a:r>
              <a:rPr lang="ru-RU" sz="1200" dirty="0"/>
              <a:t> </a:t>
            </a:r>
            <a:r>
              <a:rPr lang="ru-RU" sz="1200" dirty="0" err="1" smtClean="0"/>
              <a:t>генерації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Відсутність</a:t>
            </a:r>
            <a:r>
              <a:rPr lang="ru-RU" sz="1200" dirty="0"/>
              <a:t> </a:t>
            </a:r>
            <a:r>
              <a:rPr lang="ru-RU" sz="1200" dirty="0" err="1"/>
              <a:t>універсального</a:t>
            </a:r>
            <a:r>
              <a:rPr lang="ru-RU" sz="1200" dirty="0"/>
              <a:t> </a:t>
            </a:r>
            <a:r>
              <a:rPr lang="ru-RU" sz="1200" dirty="0" err="1" smtClean="0"/>
              <a:t>підходу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Обмеження</a:t>
            </a:r>
            <a:r>
              <a:rPr lang="ru-RU" sz="1200" dirty="0"/>
              <a:t> </a:t>
            </a:r>
            <a:r>
              <a:rPr lang="ru-RU" sz="1200" dirty="0" err="1"/>
              <a:t>продуктивності</a:t>
            </a:r>
            <a:r>
              <a:rPr lang="ru-RU" sz="1200" dirty="0"/>
              <a:t> веб-</a:t>
            </a:r>
            <a:r>
              <a:rPr lang="ru-RU" sz="1200" dirty="0" err="1"/>
              <a:t>середовища</a:t>
            </a:r>
            <a:endParaRPr lang="ru-RU" sz="1200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3</a:t>
            </a:fld>
            <a:endParaRPr lang="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389111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>
                <a:solidFill>
                  <a:srgbClr val="3D85C6"/>
                </a:solidFill>
              </a:rPr>
              <a:t>Мета </a:t>
            </a:r>
            <a:r>
              <a:rPr lang="ru-RU" dirty="0" err="1" smtClean="0">
                <a:solidFill>
                  <a:srgbClr val="3D85C6"/>
                </a:solidFill>
              </a:rPr>
              <a:t>роботи</a:t>
            </a:r>
            <a:endParaRPr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608426" y="1357159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1200" dirty="0" err="1"/>
              <a:t>Дослідження</a:t>
            </a:r>
            <a:r>
              <a:rPr lang="ru-RU" sz="1200" dirty="0"/>
              <a:t> </a:t>
            </a:r>
            <a:r>
              <a:rPr lang="ru-RU" sz="1200" dirty="0" err="1"/>
              <a:t>алгоритмів</a:t>
            </a:r>
            <a:r>
              <a:rPr lang="ru-RU" sz="1200" dirty="0"/>
              <a:t> </a:t>
            </a:r>
            <a:r>
              <a:rPr lang="ru-RU" sz="1200" dirty="0" err="1" smtClean="0"/>
              <a:t>генерації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Розробка</a:t>
            </a:r>
            <a:r>
              <a:rPr lang="ru-RU" sz="1200" dirty="0"/>
              <a:t> </a:t>
            </a:r>
            <a:r>
              <a:rPr lang="ru-RU" sz="1200" dirty="0" err="1"/>
              <a:t>власного</a:t>
            </a:r>
            <a:r>
              <a:rPr lang="ru-RU" sz="1200" dirty="0"/>
              <a:t> </a:t>
            </a:r>
            <a:r>
              <a:rPr lang="ru-RU" sz="1200" dirty="0" err="1" smtClean="0"/>
              <a:t>підходу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Розробка</a:t>
            </a:r>
            <a:r>
              <a:rPr lang="ru-RU" sz="1200" dirty="0"/>
              <a:t> метрик для </a:t>
            </a:r>
            <a:r>
              <a:rPr lang="ru-RU" sz="1200" dirty="0" err="1"/>
              <a:t>оцінки</a:t>
            </a:r>
            <a:r>
              <a:rPr lang="ru-RU" sz="1200" dirty="0"/>
              <a:t> і </a:t>
            </a:r>
            <a:r>
              <a:rPr lang="ru-RU" sz="1200" dirty="0" err="1"/>
              <a:t>порівняння</a:t>
            </a:r>
            <a:r>
              <a:rPr lang="ru-RU" sz="1200" dirty="0"/>
              <a:t> </a:t>
            </a:r>
            <a:r>
              <a:rPr lang="ru-RU" sz="1200" dirty="0" err="1"/>
              <a:t>алгоритмів</a:t>
            </a:r>
            <a:endParaRPr lang="ru-RU" sz="1200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4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2759469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6371972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 smtClean="0">
                <a:solidFill>
                  <a:srgbClr val="3D85C6"/>
                </a:solidFill>
              </a:rPr>
              <a:t>Архітектура</a:t>
            </a:r>
            <a:r>
              <a:rPr lang="ru-RU" dirty="0" smtClean="0">
                <a:solidFill>
                  <a:srgbClr val="3D85C6"/>
                </a:solidFill>
              </a:rPr>
              <a:t> і </a:t>
            </a:r>
            <a:r>
              <a:rPr lang="ru-RU" dirty="0" err="1" smtClean="0">
                <a:solidFill>
                  <a:srgbClr val="3D85C6"/>
                </a:solidFill>
              </a:rPr>
              <a:t>представлення</a:t>
            </a:r>
            <a:r>
              <a:rPr lang="ru-RU" dirty="0" smtClean="0">
                <a:solidFill>
                  <a:srgbClr val="3D85C6"/>
                </a:solidFill>
              </a:rPr>
              <a:t> </a:t>
            </a:r>
            <a:r>
              <a:rPr lang="ru-RU" dirty="0" err="1" smtClean="0">
                <a:solidFill>
                  <a:srgbClr val="3D85C6"/>
                </a:solidFill>
              </a:rPr>
              <a:t>рівня</a:t>
            </a:r>
            <a:endParaRPr lang="ru-RU" dirty="0">
              <a:solidFill>
                <a:srgbClr val="3D85C6"/>
              </a:solidFill>
            </a:endParaRPr>
          </a:p>
        </p:txBody>
      </p:sp>
      <p:pic>
        <p:nvPicPr>
          <p:cNvPr id="1026" name="Picture 2" descr="Курсач магистр архітектура (1)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673" y="1495740"/>
            <a:ext cx="3945636" cy="29347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 descr="C:\Users\admin\Desktop\5805d2f4558ba29113d7f7e9f454546e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9670" y="1495739"/>
            <a:ext cx="3722085" cy="2913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Номер слайда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5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9803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934117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Алгоритми</a:t>
            </a:r>
            <a:endParaRPr lang="ru-RU"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402535" y="1353381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uk-UA" sz="1200" dirty="0"/>
              <a:t>М</a:t>
            </a:r>
            <a:r>
              <a:rPr lang="ru-RU" sz="1200" dirty="0" err="1"/>
              <a:t>етод</a:t>
            </a:r>
            <a:r>
              <a:rPr lang="ru-RU" sz="1200" dirty="0"/>
              <a:t> </a:t>
            </a:r>
            <a:r>
              <a:rPr lang="ru-RU" sz="1200" dirty="0" err="1"/>
              <a:t>двійкового</a:t>
            </a:r>
            <a:r>
              <a:rPr lang="ru-RU" sz="1200" dirty="0"/>
              <a:t> </a:t>
            </a:r>
            <a:r>
              <a:rPr lang="ru-RU" sz="1200" dirty="0" err="1"/>
              <a:t>поділу</a:t>
            </a:r>
            <a:r>
              <a:rPr lang="ru-RU" sz="1200" dirty="0"/>
              <a:t> простору</a:t>
            </a:r>
            <a:r>
              <a:rPr lang="en-US" sz="1200" dirty="0"/>
              <a:t> (</a:t>
            </a:r>
            <a:r>
              <a:rPr lang="en-AU" sz="1200" dirty="0"/>
              <a:t>BSP</a:t>
            </a:r>
            <a:r>
              <a:rPr lang="en-AU" sz="1200" dirty="0" smtClean="0"/>
              <a:t>)</a:t>
            </a:r>
            <a:endParaRPr lang="uk-UA" sz="1200" dirty="0" smtClean="0"/>
          </a:p>
          <a:p>
            <a:pPr marL="114300" indent="0">
              <a:buNone/>
            </a:pPr>
            <a:endParaRPr lang="uk-UA" sz="1200" dirty="0"/>
          </a:p>
          <a:p>
            <a:r>
              <a:rPr lang="uk-UA" sz="1200" dirty="0"/>
              <a:t>Випадкове блукання (</a:t>
            </a:r>
            <a:r>
              <a:rPr lang="en-AU" sz="1200" dirty="0"/>
              <a:t>Random Walk</a:t>
            </a:r>
            <a:r>
              <a:rPr lang="uk-UA" sz="1200" dirty="0" smtClean="0"/>
              <a:t>)</a:t>
            </a:r>
            <a:endParaRPr lang="uk-UA" sz="1200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6</a:t>
            </a:fld>
            <a:endParaRPr lang="ru"/>
          </a:p>
        </p:txBody>
      </p:sp>
      <p:pic>
        <p:nvPicPr>
          <p:cNvPr id="1028" name="Picture 4" descr="4 Двійковий поділ простору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7692" y="226978"/>
            <a:ext cx="3573868" cy="21477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 descr="Випадкове блукання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7692" y="2639440"/>
            <a:ext cx="3573868" cy="21432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9561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934117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Алгоритми</a:t>
            </a:r>
            <a:endParaRPr lang="ru-RU"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402535" y="1353381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uk-UA" sz="1200" dirty="0" smtClean="0"/>
              <a:t>Клітинні </a:t>
            </a:r>
            <a:r>
              <a:rPr lang="uk-UA" sz="1200" dirty="0"/>
              <a:t>Автомати (</a:t>
            </a:r>
            <a:r>
              <a:rPr lang="en-AU" sz="1200" dirty="0"/>
              <a:t>Cellular</a:t>
            </a:r>
            <a:r>
              <a:rPr lang="uk-UA" sz="1200" dirty="0"/>
              <a:t> </a:t>
            </a:r>
            <a:r>
              <a:rPr lang="en-AU" sz="1200" dirty="0"/>
              <a:t>Automata</a:t>
            </a:r>
            <a:r>
              <a:rPr lang="uk-UA" sz="1200" dirty="0" smtClean="0"/>
              <a:t>)</a:t>
            </a:r>
          </a:p>
          <a:p>
            <a:endParaRPr lang="uk-UA" sz="1200" dirty="0"/>
          </a:p>
          <a:p>
            <a:r>
              <a:rPr lang="uk-UA" sz="1200" dirty="0"/>
              <a:t>Шум </a:t>
            </a:r>
            <a:r>
              <a:rPr lang="uk-UA" sz="1200" dirty="0" err="1"/>
              <a:t>Перліна</a:t>
            </a:r>
            <a:r>
              <a:rPr lang="uk-UA" sz="1200" dirty="0"/>
              <a:t> (</a:t>
            </a:r>
            <a:r>
              <a:rPr lang="en-AU" sz="1200" dirty="0" err="1"/>
              <a:t>Perlin</a:t>
            </a:r>
            <a:r>
              <a:rPr lang="en-AU" sz="1200" dirty="0"/>
              <a:t> Noise</a:t>
            </a:r>
            <a:r>
              <a:rPr lang="uk-UA" sz="1200" dirty="0" smtClean="0"/>
              <a:t>)</a:t>
            </a:r>
          </a:p>
          <a:p>
            <a:endParaRPr lang="uk-UA" sz="1200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7</a:t>
            </a:fld>
            <a:endParaRPr lang="ru"/>
          </a:p>
        </p:txBody>
      </p:sp>
      <p:pic>
        <p:nvPicPr>
          <p:cNvPr id="8" name="Picture 2" descr="3 Клітинні автомати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7692" y="201039"/>
            <a:ext cx="3573868" cy="21522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3" descr="Шум Перліна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7692" y="2632956"/>
            <a:ext cx="3573868" cy="21414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00588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99908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 smtClean="0">
                <a:solidFill>
                  <a:srgbClr val="3D85C6"/>
                </a:solidFill>
              </a:rPr>
              <a:t>Комбінований</a:t>
            </a:r>
            <a:r>
              <a:rPr lang="ru-RU" dirty="0" smtClean="0">
                <a:solidFill>
                  <a:srgbClr val="3D85C6"/>
                </a:solidFill>
              </a:rPr>
              <a:t> алгоритм</a:t>
            </a:r>
            <a:endParaRPr lang="ru-RU"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402535" y="1353381"/>
            <a:ext cx="3218732" cy="7055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AU" sz="1200" dirty="0"/>
              <a:t>BSP → </a:t>
            </a:r>
            <a:r>
              <a:rPr lang="uk-UA" sz="1200" dirty="0"/>
              <a:t>структура</a:t>
            </a:r>
          </a:p>
          <a:p>
            <a:r>
              <a:rPr lang="en-AU" sz="1200" dirty="0"/>
              <a:t>CA → </a:t>
            </a:r>
            <a:r>
              <a:rPr lang="uk-UA" sz="1200" dirty="0"/>
              <a:t>природність</a:t>
            </a:r>
          </a:p>
        </p:txBody>
      </p:sp>
      <p:sp>
        <p:nvSpPr>
          <p:cNvPr id="7" name="Google Shape;73;p14"/>
          <p:cNvSpPr txBox="1">
            <a:spLocks/>
          </p:cNvSpPr>
          <p:nvPr/>
        </p:nvSpPr>
        <p:spPr>
          <a:xfrm>
            <a:off x="4218590" y="1342279"/>
            <a:ext cx="3218732" cy="705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sz="1200" dirty="0"/>
              <a:t>Баланс </a:t>
            </a:r>
            <a:r>
              <a:rPr lang="ru-RU" sz="1200" dirty="0" err="1"/>
              <a:t>між</a:t>
            </a:r>
            <a:r>
              <a:rPr lang="ru-RU" sz="1200" dirty="0"/>
              <a:t> </a:t>
            </a:r>
            <a:r>
              <a:rPr lang="ru-RU" sz="1200" dirty="0" err="1"/>
              <a:t>структурованістю</a:t>
            </a:r>
            <a:r>
              <a:rPr lang="ru-RU" sz="1200" dirty="0"/>
              <a:t> і </a:t>
            </a:r>
            <a:r>
              <a:rPr lang="ru-RU" sz="1200" dirty="0" err="1"/>
              <a:t>природністю</a:t>
            </a:r>
            <a:endParaRPr lang="ru-RU" sz="1200" dirty="0"/>
          </a:p>
        </p:txBody>
      </p:sp>
      <p:pic>
        <p:nvPicPr>
          <p:cNvPr id="8" name="Picture 2" descr="4 Двійковий поділ простору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009" y="2157098"/>
            <a:ext cx="3851864" cy="23148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3" descr="Комбінований алгоритм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4666" y="2141905"/>
            <a:ext cx="3885295" cy="2330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8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618368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99908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>
                <a:solidFill>
                  <a:srgbClr val="3D85C6"/>
                </a:solidFill>
              </a:rPr>
              <a:t>Метрики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Google Shape;73;p14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02534" y="1353381"/>
                <a:ext cx="3456103" cy="1273087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r>
                  <a:rPr lang="uk-UA" sz="1200" dirty="0"/>
                  <a:t>Коефіцієнт прохідності</a:t>
                </a:r>
              </a:p>
              <a:p>
                <a:endParaRPr lang="uk-UA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uk-UA" sz="1200" i="1">
                          <a:latin typeface="Cambria Math"/>
                        </a:rPr>
                        <m:t>𝑊</m:t>
                      </m:r>
                      <m:r>
                        <a:rPr lang="uk-UA" sz="120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ru-RU" sz="1200" i="1">
                              <a:latin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𝑓𝑙𝑜𝑜𝑟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𝑡𝑜𝑡𝑎𝑙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uk-UA" sz="1200" dirty="0"/>
              </a:p>
            </p:txBody>
          </p:sp>
        </mc:Choice>
        <mc:Fallback xmlns="">
          <p:sp>
            <p:nvSpPr>
              <p:cNvPr id="10" name="Google Shape;73;p14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02534" y="1353381"/>
                <a:ext cx="3456103" cy="1273087"/>
              </a:xfrm>
              <a:prstGeom prst="rect">
                <a:avLst/>
              </a:prstGeom>
              <a:blipFill rotWithShape="1">
                <a:blip r:embed="rId3"/>
                <a:stretch>
                  <a:fillRect t="-14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Google Shape;73;p14"/>
              <p:cNvSpPr txBox="1">
                <a:spLocks/>
              </p:cNvSpPr>
              <p:nvPr/>
            </p:nvSpPr>
            <p:spPr>
              <a:xfrm>
                <a:off x="477112" y="2951959"/>
                <a:ext cx="3456103" cy="12730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800"/>
                  <a:buFont typeface="Open Sans"/>
                  <a:buChar char="●"/>
                  <a:defRPr sz="18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1pPr>
                <a:lvl2pPr marL="914400" marR="0" lvl="1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2pPr>
                <a:lvl3pPr marL="1371600" marR="0" lvl="2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3pPr>
                <a:lvl4pPr marL="1828800" marR="0" lvl="3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4pPr>
                <a:lvl5pPr marL="2286000" marR="0" lvl="4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5pPr>
                <a:lvl6pPr marL="2743200" marR="0" lvl="5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6pPr>
                <a:lvl7pPr marL="3200400" marR="0" lvl="6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7pPr>
                <a:lvl8pPr marL="3657600" marR="0" lvl="7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8pPr>
                <a:lvl9pPr marL="4114800" marR="0" lvl="8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9pPr>
              </a:lstStyle>
              <a:p>
                <a:r>
                  <a:rPr lang="uk-UA" sz="1200" dirty="0"/>
                  <a:t>Прямолінійність меж</a:t>
                </a:r>
              </a:p>
              <a:p>
                <a:endParaRPr lang="uk-UA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uk-UA" sz="1200" i="1">
                          <a:latin typeface="Cambria Math"/>
                        </a:rPr>
                        <m:t>𝑆</m:t>
                      </m:r>
                      <m:r>
                        <a:rPr lang="uk-UA" sz="120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ru-RU" sz="1200" i="1">
                              <a:latin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𝑠𝑡𝑟𝑎𝑖𝑔h𝑡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𝑐𝑜𝑛𝑡𝑜𝑢𝑟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sz="1200" dirty="0"/>
              </a:p>
            </p:txBody>
          </p:sp>
        </mc:Choice>
        <mc:Fallback xmlns="">
          <p:sp>
            <p:nvSpPr>
              <p:cNvPr id="11" name="Google Shape;73;p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112" y="2951959"/>
                <a:ext cx="3456103" cy="1273087"/>
              </a:xfrm>
              <a:prstGeom prst="rect">
                <a:avLst/>
              </a:prstGeom>
              <a:blipFill rotWithShape="1">
                <a:blip r:embed="rId4"/>
                <a:stretch>
                  <a:fillRect t="-14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Google Shape;73;p14"/>
              <p:cNvSpPr txBox="1">
                <a:spLocks/>
              </p:cNvSpPr>
              <p:nvPr/>
            </p:nvSpPr>
            <p:spPr>
              <a:xfrm>
                <a:off x="3573750" y="1282044"/>
                <a:ext cx="3456103" cy="18048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800"/>
                  <a:buFont typeface="Open Sans"/>
                  <a:buChar char="●"/>
                  <a:defRPr sz="18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1pPr>
                <a:lvl2pPr marL="914400" marR="0" lvl="1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2pPr>
                <a:lvl3pPr marL="1371600" marR="0" lvl="2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3pPr>
                <a:lvl4pPr marL="1828800" marR="0" lvl="3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4pPr>
                <a:lvl5pPr marL="2286000" marR="0" lvl="4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5pPr>
                <a:lvl6pPr marL="2743200" marR="0" lvl="5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6pPr>
                <a:lvl7pPr marL="3200400" marR="0" lvl="6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7pPr>
                <a:lvl8pPr marL="3657600" marR="0" lvl="7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8pPr>
                <a:lvl9pPr marL="4114800" marR="0" lvl="8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9pPr>
              </a:lstStyle>
              <a:p>
                <a:r>
                  <a:rPr lang="uk-UA" sz="1200" dirty="0"/>
                  <a:t>Кількість компонент </a:t>
                </a:r>
                <a:r>
                  <a:rPr lang="uk-UA" sz="1200" dirty="0" smtClean="0"/>
                  <a:t>зв’язності</a:t>
                </a:r>
              </a:p>
              <a:p>
                <a:endParaRPr lang="uk-UA" sz="1200" dirty="0"/>
              </a:p>
              <a:p>
                <a:r>
                  <a:rPr lang="uk-UA" sz="1200" dirty="0"/>
                  <a:t>Відносний розмір найбільшої компоненти</a:t>
                </a:r>
              </a:p>
              <a:p>
                <a:endParaRPr lang="uk-UA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uk-UA" sz="1200" i="1">
                          <a:latin typeface="Cambria Math"/>
                        </a:rPr>
                        <m:t>𝐿</m:t>
                      </m:r>
                      <m:r>
                        <a:rPr lang="uk-UA" sz="120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ru-RU" sz="1200" i="1">
                              <a:latin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𝑙𝑎𝑟𝑔𝑒𝑠𝑡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𝑓𝑙𝑜𝑜𝑟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sz="1200" dirty="0"/>
              </a:p>
            </p:txBody>
          </p:sp>
        </mc:Choice>
        <mc:Fallback xmlns="">
          <p:sp>
            <p:nvSpPr>
              <p:cNvPr id="12" name="Google Shape;73;p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3750" y="1282044"/>
                <a:ext cx="3456103" cy="1804867"/>
              </a:xfrm>
              <a:prstGeom prst="rect">
                <a:avLst/>
              </a:prstGeom>
              <a:blipFill rotWithShape="1">
                <a:blip r:embed="rId5"/>
                <a:stretch>
                  <a:fillRect t="-10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9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8235193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699" y="445025"/>
            <a:ext cx="5194155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Проведення</a:t>
            </a:r>
            <a:r>
              <a:rPr lang="ru-RU" dirty="0">
                <a:solidFill>
                  <a:srgbClr val="3D85C6"/>
                </a:solidFill>
              </a:rPr>
              <a:t> </a:t>
            </a:r>
            <a:r>
              <a:rPr lang="ru-RU" dirty="0" err="1" smtClean="0">
                <a:solidFill>
                  <a:srgbClr val="3D85C6"/>
                </a:solidFill>
              </a:rPr>
              <a:t>експерименту</a:t>
            </a:r>
            <a:endParaRPr lang="ru-RU" dirty="0">
              <a:solidFill>
                <a:srgbClr val="3D85C6"/>
              </a:solidFill>
            </a:endParaRP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005143"/>
              </p:ext>
            </p:extLst>
          </p:nvPr>
        </p:nvGraphicFramePr>
        <p:xfrm>
          <a:off x="616086" y="1225684"/>
          <a:ext cx="7971557" cy="328477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95080"/>
                <a:gridCol w="1121923"/>
                <a:gridCol w="1511030"/>
                <a:gridCol w="1303508"/>
                <a:gridCol w="1240016"/>
              </a:tblGrid>
              <a:tr h="53310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Алгоритм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W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Компоненти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L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S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Алгоритм </a:t>
                      </a:r>
                      <a:r>
                        <a:rPr lang="uk-UA" sz="1200" dirty="0" smtClean="0">
                          <a:effectLst/>
                        </a:rPr>
                        <a:t>двійкового</a:t>
                      </a:r>
                      <a:r>
                        <a:rPr lang="uk-UA" sz="1200" baseline="0" dirty="0" smtClean="0">
                          <a:effectLst/>
                        </a:rPr>
                        <a:t> </a:t>
                      </a:r>
                      <a:r>
                        <a:rPr lang="uk-UA" sz="1200" dirty="0" smtClean="0">
                          <a:effectLst/>
                        </a:rPr>
                        <a:t>поділу </a:t>
                      </a:r>
                      <a:r>
                        <a:rPr lang="uk-UA" sz="1200" dirty="0">
                          <a:effectLst/>
                        </a:rPr>
                        <a:t>простору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0.31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0.95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Клітинні автомати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0.48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solidFill>
                            <a:srgbClr val="0070C0"/>
                          </a:solidFill>
                          <a:effectLst/>
                        </a:rPr>
                        <a:t>2</a:t>
                      </a: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5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solidFill>
                            <a:srgbClr val="0070C0"/>
                          </a:solidFill>
                          <a:effectLst/>
                        </a:rPr>
                        <a:t>0.8</a:t>
                      </a: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0.06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Шум </a:t>
                      </a:r>
                      <a:r>
                        <a:rPr lang="uk-UA" sz="1200" dirty="0" err="1">
                          <a:effectLst/>
                        </a:rPr>
                        <a:t>Перліна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0.49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16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0.63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0.17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Випадкове блукання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0.35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0.05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Комбінований алгоритм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0.41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0.22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6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10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16079164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699" y="445025"/>
            <a:ext cx="5194155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 smtClean="0">
                <a:solidFill>
                  <a:srgbClr val="3D85C6"/>
                </a:solidFill>
              </a:rPr>
              <a:t>Багатокритеріальна</a:t>
            </a:r>
            <a:r>
              <a:rPr lang="ru-RU" dirty="0" smtClean="0">
                <a:solidFill>
                  <a:srgbClr val="3D85C6"/>
                </a:solidFill>
              </a:rPr>
              <a:t> </a:t>
            </a:r>
            <a:r>
              <a:rPr lang="ru-RU" dirty="0" err="1" smtClean="0">
                <a:solidFill>
                  <a:srgbClr val="3D85C6"/>
                </a:solidFill>
              </a:rPr>
              <a:t>оцінка</a:t>
            </a:r>
            <a:endParaRPr lang="ru-RU" dirty="0">
              <a:solidFill>
                <a:srgbClr val="3D85C6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190037"/>
              </p:ext>
            </p:extLst>
          </p:nvPr>
        </p:nvGraphicFramePr>
        <p:xfrm>
          <a:off x="1168528" y="1763950"/>
          <a:ext cx="6380136" cy="230227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150870"/>
                <a:gridCol w="3229266"/>
              </a:tblGrid>
              <a:tr h="38203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Алгоритм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 smtClean="0">
                          <a:effectLst/>
                        </a:rPr>
                        <a:t>Якість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Алгоритм двійкового поділу простору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solidFill>
                            <a:srgbClr val="0070C0"/>
                          </a:solidFill>
                          <a:effectLst/>
                        </a:rPr>
                        <a:t>0.65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Клітинні автомати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 smtClean="0">
                          <a:solidFill>
                            <a:srgbClr val="0070C0"/>
                          </a:solidFill>
                          <a:effectLst/>
                        </a:rPr>
                        <a:t>0.34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Шум </a:t>
                      </a:r>
                      <a:r>
                        <a:rPr lang="uk-UA" sz="1400" dirty="0" err="1">
                          <a:effectLst/>
                        </a:rPr>
                        <a:t>Перліна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 smtClean="0">
                          <a:solidFill>
                            <a:srgbClr val="0070C0"/>
                          </a:solidFill>
                          <a:effectLst/>
                        </a:rPr>
                        <a:t>0.326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Випадкове блукання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 smtClean="0">
                          <a:solidFill>
                            <a:srgbClr val="0070C0"/>
                          </a:solidFill>
                          <a:effectLst/>
                        </a:rPr>
                        <a:t>0.892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Комбінований алгоритм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 smtClean="0">
                          <a:solidFill>
                            <a:srgbClr val="0070C0"/>
                          </a:solidFill>
                          <a:effectLst/>
                        </a:rPr>
                        <a:t>0.966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Номер слайда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11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785956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99908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 smtClean="0">
                <a:solidFill>
                  <a:srgbClr val="3D85C6"/>
                </a:solidFill>
              </a:rPr>
              <a:t>Висновки</a:t>
            </a:r>
            <a:endParaRPr lang="ru-RU"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402534" y="1353381"/>
            <a:ext cx="3456103" cy="18437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sz="1200" dirty="0" err="1"/>
              <a:t>Проаналізовано</a:t>
            </a:r>
            <a:r>
              <a:rPr lang="ru-RU" sz="1200" dirty="0"/>
              <a:t> </a:t>
            </a:r>
            <a:r>
              <a:rPr lang="ru-RU" sz="1200" dirty="0" err="1"/>
              <a:t>алгоритми</a:t>
            </a:r>
            <a:r>
              <a:rPr lang="ru-RU" sz="1200" dirty="0"/>
              <a:t> </a:t>
            </a:r>
            <a:r>
              <a:rPr lang="ru-RU" sz="1200" dirty="0" smtClean="0">
                <a:solidFill>
                  <a:srgbClr val="00B050"/>
                </a:solidFill>
              </a:rPr>
              <a:t>✔</a:t>
            </a:r>
          </a:p>
          <a:p>
            <a:endParaRPr lang="ru-RU" sz="1200" dirty="0">
              <a:solidFill>
                <a:srgbClr val="00B050"/>
              </a:solidFill>
            </a:endParaRPr>
          </a:p>
          <a:p>
            <a:r>
              <a:rPr lang="ru-RU" sz="1200" dirty="0" err="1"/>
              <a:t>Реалізовано</a:t>
            </a:r>
            <a:r>
              <a:rPr lang="ru-RU" sz="1200" dirty="0"/>
              <a:t> систему </a:t>
            </a:r>
            <a:r>
              <a:rPr lang="ru-RU" sz="1200" dirty="0" smtClean="0">
                <a:solidFill>
                  <a:srgbClr val="00B050"/>
                </a:solidFill>
              </a:rPr>
              <a:t>✔</a:t>
            </a:r>
          </a:p>
          <a:p>
            <a:endParaRPr lang="ru-RU" sz="1200" dirty="0">
              <a:solidFill>
                <a:srgbClr val="00B050"/>
              </a:solidFill>
            </a:endParaRPr>
          </a:p>
          <a:p>
            <a:r>
              <a:rPr lang="ru-RU" sz="1200" dirty="0" err="1"/>
              <a:t>Запропоновано</a:t>
            </a:r>
            <a:r>
              <a:rPr lang="ru-RU" sz="1200" dirty="0"/>
              <a:t> метрики </a:t>
            </a:r>
            <a:r>
              <a:rPr lang="ru-RU" sz="1200" dirty="0" smtClean="0">
                <a:solidFill>
                  <a:srgbClr val="00B050"/>
                </a:solidFill>
              </a:rPr>
              <a:t>✔</a:t>
            </a:r>
          </a:p>
          <a:p>
            <a:endParaRPr lang="ru-RU" sz="1200" dirty="0">
              <a:solidFill>
                <a:srgbClr val="00B050"/>
              </a:solidFill>
            </a:endParaRPr>
          </a:p>
          <a:p>
            <a:r>
              <a:rPr lang="ru-RU" sz="1200" dirty="0" err="1"/>
              <a:t>Розроблено</a:t>
            </a:r>
            <a:r>
              <a:rPr lang="ru-RU" sz="1200" dirty="0"/>
              <a:t> </a:t>
            </a:r>
            <a:r>
              <a:rPr lang="ru-RU" sz="1200" dirty="0" err="1"/>
              <a:t>гібридний</a:t>
            </a:r>
            <a:r>
              <a:rPr lang="ru-RU" sz="1200" dirty="0"/>
              <a:t> алгоритм </a:t>
            </a:r>
            <a:r>
              <a:rPr lang="ru-RU" sz="1200" dirty="0">
                <a:solidFill>
                  <a:srgbClr val="00B050"/>
                </a:solidFill>
              </a:rPr>
              <a:t>✔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12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913818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>
            <a:spLocks noGrp="1"/>
          </p:cNvSpPr>
          <p:nvPr>
            <p:ph type="ctrTitle"/>
          </p:nvPr>
        </p:nvSpPr>
        <p:spPr>
          <a:xfrm>
            <a:off x="917750" y="1562879"/>
            <a:ext cx="7136700" cy="142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6000">
                <a:solidFill>
                  <a:srgbClr val="3D85C6"/>
                </a:solidFill>
              </a:rPr>
              <a:t>Дякую за увагу!</a:t>
            </a:r>
            <a:endParaRPr sz="6000">
              <a:solidFill>
                <a:srgbClr val="3D85C6"/>
              </a:solidFill>
            </a:endParaRPr>
          </a:p>
        </p:txBody>
      </p:sp>
      <p:sp>
        <p:nvSpPr>
          <p:cNvPr id="148" name="Google Shape;148;p23"/>
          <p:cNvSpPr/>
          <p:nvPr/>
        </p:nvSpPr>
        <p:spPr>
          <a:xfrm>
            <a:off x="1171100" y="2880925"/>
            <a:ext cx="1350600" cy="515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9" name="Google Shape;149;p23"/>
          <p:cNvSpPr/>
          <p:nvPr/>
        </p:nvSpPr>
        <p:spPr>
          <a:xfrm>
            <a:off x="6550375" y="2880925"/>
            <a:ext cx="1350600" cy="515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13</a:t>
            </a:fld>
            <a:endParaRPr lang="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ropic">
  <a:themeElements>
    <a:clrScheme name="Tropic">
      <a:dk1>
        <a:srgbClr val="A1E8D9"/>
      </a:dk1>
      <a:lt1>
        <a:srgbClr val="FFFFFF"/>
      </a:lt1>
      <a:dk2>
        <a:srgbClr val="695D46"/>
      </a:dk2>
      <a:lt2>
        <a:srgbClr val="B3A77D"/>
      </a:lt2>
      <a:accent1>
        <a:srgbClr val="EF6C00"/>
      </a:accent1>
      <a:accent2>
        <a:srgbClr val="CE93D8"/>
      </a:accent2>
      <a:accent3>
        <a:srgbClr val="4DB6AC"/>
      </a:accent3>
      <a:accent4>
        <a:srgbClr val="FF9800"/>
      </a:accent4>
      <a:accent5>
        <a:srgbClr val="009668"/>
      </a:accent5>
      <a:accent6>
        <a:srgbClr val="EEFF41"/>
      </a:accent6>
      <a:hlink>
        <a:srgbClr val="009668"/>
      </a:hlink>
      <a:folHlink>
        <a:srgbClr val="00966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283</Words>
  <Application>Microsoft Office PowerPoint</Application>
  <PresentationFormat>Экран (16:9)</PresentationFormat>
  <Paragraphs>112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1" baseType="lpstr">
      <vt:lpstr>Arial</vt:lpstr>
      <vt:lpstr>Cambria Math</vt:lpstr>
      <vt:lpstr>Times New Roman</vt:lpstr>
      <vt:lpstr>Calibri</vt:lpstr>
      <vt:lpstr>Open Sans</vt:lpstr>
      <vt:lpstr>PT Sans Narrow</vt:lpstr>
      <vt:lpstr>MS Mincho</vt:lpstr>
      <vt:lpstr>Tropic</vt:lpstr>
      <vt:lpstr>Дослідження методів використання ігрових рушіїв на мові програмування JavaScript. Алгоритми процедурної генерації для створення ігрових рівнів</vt:lpstr>
      <vt:lpstr>Вступ</vt:lpstr>
      <vt:lpstr>Актуальність</vt:lpstr>
      <vt:lpstr>Мета роботи</vt:lpstr>
      <vt:lpstr>Архітектура і представлення рівня</vt:lpstr>
      <vt:lpstr>Алгоритми</vt:lpstr>
      <vt:lpstr>Алгоритми</vt:lpstr>
      <vt:lpstr>Комбінований алгоритм</vt:lpstr>
      <vt:lpstr>Метрики</vt:lpstr>
      <vt:lpstr>Проведення експерименту</vt:lpstr>
      <vt:lpstr>Багатокритеріальна оцінка</vt:lpstr>
      <vt:lpstr>Висновки</vt:lpstr>
      <vt:lpstr>Дякую за увагу!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методів використання ігрових рушіїв на мові програмування JavaScript. Алгоритми процедурної генерації для створення ігрових рівнів</dc:title>
  <cp:lastModifiedBy>admin</cp:lastModifiedBy>
  <cp:revision>21</cp:revision>
  <dcterms:modified xsi:type="dcterms:W3CDTF">2026-05-09T09:05:56Z</dcterms:modified>
</cp:coreProperties>
</file>