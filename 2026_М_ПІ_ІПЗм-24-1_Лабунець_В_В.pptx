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16"/>
  </p:notesMasterIdLst>
  <p:sldIdLst>
    <p:sldId id="256" r:id="rId2"/>
    <p:sldId id="257" r:id="rId3"/>
    <p:sldId id="258" r:id="rId4"/>
    <p:sldId id="267" r:id="rId5"/>
    <p:sldId id="268" r:id="rId6"/>
    <p:sldId id="276" r:id="rId7"/>
    <p:sldId id="271" r:id="rId8"/>
    <p:sldId id="275" r:id="rId9"/>
    <p:sldId id="269" r:id="rId10"/>
    <p:sldId id="270" r:id="rId11"/>
    <p:sldId id="272" r:id="rId12"/>
    <p:sldId id="273" r:id="rId13"/>
    <p:sldId id="274" r:id="rId14"/>
    <p:sldId id="266" r:id="rId15"/>
  </p:sldIdLst>
  <p:sldSz cx="9144000" cy="5143500" type="screen16x9"/>
  <p:notesSz cx="6858000" cy="9144000"/>
  <p:embeddedFontLst>
    <p:embeddedFont>
      <p:font typeface="Open Sans" panose="020B0604020202020204" charset="0"/>
      <p:regular r:id="rId17"/>
      <p:bold r:id="rId18"/>
      <p:italic r:id="rId19"/>
      <p:boldItalic r:id="rId20"/>
    </p:embeddedFont>
    <p:embeddedFont>
      <p:font typeface="PT Sans Narrow" panose="020B0604020202020204" charset="-52"/>
      <p:regular r:id="rId21"/>
      <p:bold r:id="rId22"/>
    </p:embeddedFont>
    <p:embeddedFont>
      <p:font typeface="Cambria Math" panose="02040503050406030204" pitchFamily="18" charset="0"/>
      <p:regular r:id="rId23"/>
    </p:embeddedFont>
    <p:embeddedFont>
      <p:font typeface="Calibri" panose="020F0502020204030204" pitchFamily="34" charset="0"/>
      <p:regular r:id="rId24"/>
      <p:bold r:id="rId25"/>
      <p:italic r:id="rId26"/>
      <p:boldItalic r:id="rId2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-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394" autoAdjust="0"/>
  </p:normalViewPr>
  <p:slideViewPr>
    <p:cSldViewPr snapToGrid="0">
      <p:cViewPr>
        <p:scale>
          <a:sx n="125" d="100"/>
          <a:sy n="125" d="100"/>
        </p:scale>
        <p:origin x="-1224" y="-45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953346482"/>
      </p:ext>
    </p:extLst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2e38e5602e2_0_5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2e38e5602e2_0_57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2e38e5603a3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g2e38e5603a3_0_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g2e38e5603a3_0_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5" name="Google Shape;145;g2e38e5603a3_0_7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Google Shape;10;p2"/>
          <p:cNvCxnSpPr/>
          <p:nvPr/>
        </p:nvCxnSpPr>
        <p:spPr>
          <a:xfrm>
            <a:off x="7007735" y="3176888"/>
            <a:ext cx="562200" cy="0"/>
          </a:xfrm>
          <a:prstGeom prst="straightConnector1">
            <a:avLst/>
          </a:prstGeom>
          <a:noFill/>
          <a:ln w="762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cxnSp>
        <p:nvCxnSpPr>
          <p:cNvPr id="11" name="Google Shape;11;p2"/>
          <p:cNvCxnSpPr/>
          <p:nvPr/>
        </p:nvCxnSpPr>
        <p:spPr>
          <a:xfrm>
            <a:off x="1575035" y="3158252"/>
            <a:ext cx="562200" cy="0"/>
          </a:xfrm>
          <a:prstGeom prst="straightConnector1">
            <a:avLst/>
          </a:prstGeom>
          <a:noFill/>
          <a:ln w="76200" cap="flat" cmpd="sng">
            <a:solidFill>
              <a:schemeClr val="lt2"/>
            </a:solidFill>
            <a:prstDash val="solid"/>
            <a:round/>
            <a:headEnd type="none" w="sm" len="sm"/>
            <a:tailEnd type="none" w="sm" len="sm"/>
          </a:ln>
        </p:spPr>
      </p:cxnSp>
      <p:grpSp>
        <p:nvGrpSpPr>
          <p:cNvPr id="12" name="Google Shape;12;p2"/>
          <p:cNvGrpSpPr/>
          <p:nvPr/>
        </p:nvGrpSpPr>
        <p:grpSpPr>
          <a:xfrm>
            <a:off x="1004144" y="1022025"/>
            <a:ext cx="7136668" cy="152400"/>
            <a:chOff x="1346429" y="1011300"/>
            <a:chExt cx="6452100" cy="152400"/>
          </a:xfrm>
        </p:grpSpPr>
        <p:cxnSp>
          <p:nvCxnSpPr>
            <p:cNvPr id="13" name="Google Shape;13;p2"/>
            <p:cNvCxnSpPr/>
            <p:nvPr/>
          </p:nvCxnSpPr>
          <p:spPr>
            <a:xfrm rot="10800000">
              <a:off x="1346429" y="1011300"/>
              <a:ext cx="64521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4" name="Google Shape;14;p2"/>
            <p:cNvCxnSpPr/>
            <p:nvPr/>
          </p:nvCxnSpPr>
          <p:spPr>
            <a:xfrm rot="10800000">
              <a:off x="1346429" y="1163700"/>
              <a:ext cx="64521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grpSp>
        <p:nvGrpSpPr>
          <p:cNvPr id="15" name="Google Shape;15;p2"/>
          <p:cNvGrpSpPr/>
          <p:nvPr/>
        </p:nvGrpSpPr>
        <p:grpSpPr>
          <a:xfrm>
            <a:off x="1004151" y="3969100"/>
            <a:ext cx="7136668" cy="152400"/>
            <a:chOff x="1346435" y="3969088"/>
            <a:chExt cx="6452100" cy="152400"/>
          </a:xfrm>
        </p:grpSpPr>
        <p:cxnSp>
          <p:nvCxnSpPr>
            <p:cNvPr id="16" name="Google Shape;16;p2"/>
            <p:cNvCxnSpPr/>
            <p:nvPr/>
          </p:nvCxnSpPr>
          <p:spPr>
            <a:xfrm>
              <a:off x="1346435" y="4121488"/>
              <a:ext cx="6452100" cy="0"/>
            </a:xfrm>
            <a:prstGeom prst="straightConnector1">
              <a:avLst/>
            </a:prstGeom>
            <a:noFill/>
            <a:ln w="76200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7" name="Google Shape;17;p2"/>
            <p:cNvCxnSpPr/>
            <p:nvPr/>
          </p:nvCxnSpPr>
          <p:spPr>
            <a:xfrm>
              <a:off x="1346435" y="3969088"/>
              <a:ext cx="6452100" cy="0"/>
            </a:xfrm>
            <a:prstGeom prst="straightConnector1">
              <a:avLst/>
            </a:prstGeom>
            <a:noFill/>
            <a:ln w="9525" cap="flat" cmpd="sng">
              <a:solidFill>
                <a:schemeClr val="accent3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sp>
        <p:nvSpPr>
          <p:cNvPr id="18" name="Google Shape;18;p2"/>
          <p:cNvSpPr txBox="1">
            <a:spLocks noGrp="1"/>
          </p:cNvSpPr>
          <p:nvPr>
            <p:ph type="ctrTitle"/>
          </p:nvPr>
        </p:nvSpPr>
        <p:spPr>
          <a:xfrm>
            <a:off x="1004150" y="1751764"/>
            <a:ext cx="7136700" cy="10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2pPr>
            <a:lvl3pPr lvl="2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3pPr>
            <a:lvl4pPr lvl="3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4pPr>
            <a:lvl5pPr lvl="4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5pPr>
            <a:lvl6pPr lvl="5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6pPr>
            <a:lvl7pPr lvl="6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7pPr>
            <a:lvl8pPr lvl="7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8pPr>
            <a:lvl9pPr lvl="8" algn="ctr">
              <a:spcBef>
                <a:spcPts val="0"/>
              </a:spcBef>
              <a:spcAft>
                <a:spcPts val="0"/>
              </a:spcAft>
              <a:buSzPts val="5400"/>
              <a:buNone/>
              <a:defRPr sz="5400"/>
            </a:lvl9pPr>
          </a:lstStyle>
          <a:p>
            <a:endParaRPr/>
          </a:p>
        </p:txBody>
      </p:sp>
      <p:sp>
        <p:nvSpPr>
          <p:cNvPr id="19" name="Google Shape;19;p2"/>
          <p:cNvSpPr txBox="1">
            <a:spLocks noGrp="1"/>
          </p:cNvSpPr>
          <p:nvPr>
            <p:ph type="subTitle" idx="1"/>
          </p:nvPr>
        </p:nvSpPr>
        <p:spPr>
          <a:xfrm>
            <a:off x="2137225" y="2850039"/>
            <a:ext cx="487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0" name="Google Shape;20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/>
          <p:nvPr/>
        </p:nvSpPr>
        <p:spPr>
          <a:xfrm>
            <a:off x="-50" y="2571900"/>
            <a:ext cx="9144000" cy="25716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/>
          </p:nvPr>
        </p:nvSpPr>
        <p:spPr>
          <a:xfrm>
            <a:off x="311700" y="814800"/>
            <a:ext cx="8571300" cy="942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28" name="Google Shape;28;p4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9" name="Google Shape;2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body" idx="1"/>
          </p:nvPr>
        </p:nvSpPr>
        <p:spPr>
          <a:xfrm>
            <a:off x="311700" y="1266175"/>
            <a:ext cx="39999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body" idx="2"/>
          </p:nvPr>
        </p:nvSpPr>
        <p:spPr>
          <a:xfrm>
            <a:off x="4832400" y="1266175"/>
            <a:ext cx="3999900" cy="330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4" name="Google Shape;3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41" name="Google Shape;4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accent6"/>
        </a:solid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8"/>
          <p:cNvSpPr txBox="1">
            <a:spLocks noGrp="1"/>
          </p:cNvSpPr>
          <p:nvPr>
            <p:ph type="title"/>
          </p:nvPr>
        </p:nvSpPr>
        <p:spPr>
          <a:xfrm>
            <a:off x="490250" y="526350"/>
            <a:ext cx="56136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400"/>
              <a:buNone/>
              <a:defRPr sz="5400" b="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44" name="Google Shape;4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9"/>
          <p:cNvSpPr/>
          <p:nvPr/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cxnSp>
        <p:nvCxnSpPr>
          <p:cNvPr id="47" name="Google Shape;47;p9"/>
          <p:cNvCxnSpPr/>
          <p:nvPr/>
        </p:nvCxnSpPr>
        <p:spPr>
          <a:xfrm>
            <a:off x="5029675" y="4495500"/>
            <a:ext cx="468300" cy="0"/>
          </a:xfrm>
          <a:prstGeom prst="straightConnector1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</p:cxnSp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265500" y="1039675"/>
            <a:ext cx="4045200" cy="16758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ubTitle" idx="1"/>
          </p:nvPr>
        </p:nvSpPr>
        <p:spPr>
          <a:xfrm>
            <a:off x="265500" y="27268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50" name="Google Shape;50;p9"/>
          <p:cNvSpPr txBox="1">
            <a:spLocks noGrp="1"/>
          </p:cNvSpPr>
          <p:nvPr>
            <p:ph type="body" idx="2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1" name="Google Shape;51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0"/>
          <p:cNvSpPr txBox="1">
            <a:spLocks noGrp="1"/>
          </p:cNvSpPr>
          <p:nvPr>
            <p:ph type="body" idx="1"/>
          </p:nvPr>
        </p:nvSpPr>
        <p:spPr>
          <a:xfrm>
            <a:off x="311700" y="4230725"/>
            <a:ext cx="5998800" cy="598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PT Sans Narrow"/>
              <a:buNone/>
              <a:defRPr sz="2400">
                <a:latin typeface="PT Sans Narrow"/>
                <a:ea typeface="PT Sans Narrow"/>
                <a:cs typeface="PT Sans Narrow"/>
                <a:sym typeface="PT Sans Narrow"/>
              </a:defRPr>
            </a:lvl1pPr>
          </a:lstStyle>
          <a:p>
            <a:endParaRPr/>
          </a:p>
        </p:txBody>
      </p:sp>
      <p:sp>
        <p:nvSpPr>
          <p:cNvPr id="54" name="Google Shape;5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1"/>
          <p:cNvSpPr/>
          <p:nvPr/>
        </p:nvSpPr>
        <p:spPr>
          <a:xfrm>
            <a:off x="-75" y="5045700"/>
            <a:ext cx="9144000" cy="978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57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304850"/>
            <a:ext cx="8520600" cy="153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3000"/>
              <a:buNone/>
              <a:defRPr sz="13000">
                <a:solidFill>
                  <a:schemeClr val="accent3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8" name="Google Shape;58;p11"/>
          <p:cNvSpPr txBox="1">
            <a:spLocks noGrp="1"/>
          </p:cNvSpPr>
          <p:nvPr>
            <p:ph type="body" idx="1"/>
          </p:nvPr>
        </p:nvSpPr>
        <p:spPr>
          <a:xfrm>
            <a:off x="311700" y="2995650"/>
            <a:ext cx="8520600" cy="1071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tropic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70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T Sans Narrow"/>
              <a:buNone/>
              <a:defRPr sz="3600" b="1">
                <a:solidFill>
                  <a:schemeClr val="accent1"/>
                </a:solidFill>
                <a:latin typeface="PT Sans Narrow"/>
                <a:ea typeface="PT Sans Narrow"/>
                <a:cs typeface="PT Sans Narrow"/>
                <a:sym typeface="PT Sans Narrow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8520600" cy="330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lvl="2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lvl="3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lvl="4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lvl="5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lvl="6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lvl="7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lvl="8" algn="r">
              <a:buNone/>
              <a:defRPr sz="1000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6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8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9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>
            <a:spLocks noGrp="1"/>
          </p:cNvSpPr>
          <p:nvPr>
            <p:ph type="subTitle" idx="1"/>
          </p:nvPr>
        </p:nvSpPr>
        <p:spPr>
          <a:xfrm>
            <a:off x="2136750" y="2819039"/>
            <a:ext cx="48705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lnSpcReduction="10000"/>
          </a:bodyPr>
          <a:lstStyle/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/>
              <a:t>Виконав: ст. гр. </a:t>
            </a:r>
            <a:r>
              <a:rPr lang="ru" sz="1400" dirty="0" smtClean="0"/>
              <a:t>ІПЗм-24-1 </a:t>
            </a:r>
            <a:r>
              <a:rPr lang="ru" sz="1400" dirty="0"/>
              <a:t>Лабунець Владислав</a:t>
            </a:r>
            <a:endParaRPr sz="1400" dirty="0"/>
          </a:p>
          <a:p>
            <a:pPr marL="0" lvl="0" indent="0" algn="ctr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400" dirty="0"/>
              <a:t>Керівник: </a:t>
            </a:r>
            <a:r>
              <a:rPr lang="ru" sz="1400" dirty="0" smtClean="0"/>
              <a:t>доц. </a:t>
            </a:r>
            <a:r>
              <a:rPr lang="ru" sz="1400" dirty="0"/>
              <a:t>кафедри ПІ </a:t>
            </a:r>
            <a:r>
              <a:rPr lang="ru" sz="1400" dirty="0" smtClean="0"/>
              <a:t>Назаров О.С.</a:t>
            </a:r>
            <a:endParaRPr sz="1400" dirty="0"/>
          </a:p>
        </p:txBody>
      </p:sp>
      <p:sp>
        <p:nvSpPr>
          <p:cNvPr id="67" name="Google Shape;67;p13"/>
          <p:cNvSpPr txBox="1">
            <a:spLocks noGrp="1"/>
          </p:cNvSpPr>
          <p:nvPr>
            <p:ph type="ctrTitle"/>
          </p:nvPr>
        </p:nvSpPr>
        <p:spPr>
          <a:xfrm>
            <a:off x="1003650" y="1435184"/>
            <a:ext cx="7136700" cy="125957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ru-RU" sz="2400" dirty="0" err="1">
                <a:solidFill>
                  <a:srgbClr val="3D85C6"/>
                </a:solidFill>
              </a:rPr>
              <a:t>Дослідження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методів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використання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ігрових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рушіїв</a:t>
            </a:r>
            <a:r>
              <a:rPr lang="ru-RU" sz="2400" dirty="0">
                <a:solidFill>
                  <a:srgbClr val="3D85C6"/>
                </a:solidFill>
              </a:rPr>
              <a:t> на </a:t>
            </a:r>
            <a:r>
              <a:rPr lang="ru-RU" sz="2400" dirty="0" err="1">
                <a:solidFill>
                  <a:srgbClr val="3D85C6"/>
                </a:solidFill>
              </a:rPr>
              <a:t>мові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програмування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en-AU" sz="2400" dirty="0">
                <a:solidFill>
                  <a:srgbClr val="3D85C6"/>
                </a:solidFill>
              </a:rPr>
              <a:t>JavaScript. </a:t>
            </a:r>
            <a:r>
              <a:rPr lang="ru-RU" sz="2400" dirty="0" err="1">
                <a:solidFill>
                  <a:srgbClr val="3D85C6"/>
                </a:solidFill>
              </a:rPr>
              <a:t>Алгоритми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процедурної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генерації</a:t>
            </a:r>
            <a:r>
              <a:rPr lang="ru-RU" sz="2400" dirty="0">
                <a:solidFill>
                  <a:srgbClr val="3D85C6"/>
                </a:solidFill>
              </a:rPr>
              <a:t> для </a:t>
            </a:r>
            <a:r>
              <a:rPr lang="ru-RU" sz="2400" dirty="0" err="1">
                <a:solidFill>
                  <a:srgbClr val="3D85C6"/>
                </a:solidFill>
              </a:rPr>
              <a:t>створення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ігрових</a:t>
            </a:r>
            <a:r>
              <a:rPr lang="ru-RU" sz="2400" dirty="0">
                <a:solidFill>
                  <a:srgbClr val="3D85C6"/>
                </a:solidFill>
              </a:rPr>
              <a:t> </a:t>
            </a:r>
            <a:r>
              <a:rPr lang="ru-RU" sz="2400" dirty="0" err="1">
                <a:solidFill>
                  <a:srgbClr val="3D85C6"/>
                </a:solidFill>
              </a:rPr>
              <a:t>рівнів</a:t>
            </a:r>
            <a:endParaRPr sz="2400" dirty="0">
              <a:solidFill>
                <a:srgbClr val="3D85C6"/>
              </a:solidFill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1244597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Вступ</a:t>
            </a:r>
            <a:endParaRPr dirty="0">
              <a:solidFill>
                <a:srgbClr val="3D85C6"/>
              </a:solidFill>
            </a:endParaRPr>
          </a:p>
        </p:txBody>
      </p:sp>
      <p:sp>
        <p:nvSpPr>
          <p:cNvPr id="73" name="Google Shape;73;p14"/>
          <p:cNvSpPr txBox="1">
            <a:spLocks noGrp="1"/>
          </p:cNvSpPr>
          <p:nvPr>
            <p:ph type="body" idx="1"/>
          </p:nvPr>
        </p:nvSpPr>
        <p:spPr>
          <a:xfrm>
            <a:off x="311700" y="1266325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1200" dirty="0" err="1"/>
              <a:t>Процедурна</a:t>
            </a:r>
            <a:r>
              <a:rPr lang="ru-RU" sz="1200" dirty="0"/>
              <a:t> </a:t>
            </a:r>
            <a:r>
              <a:rPr lang="ru-RU" sz="1200" dirty="0" err="1"/>
              <a:t>генерація</a:t>
            </a:r>
            <a:r>
              <a:rPr lang="ru-RU" sz="1200" dirty="0"/>
              <a:t> – метод </a:t>
            </a:r>
            <a:r>
              <a:rPr lang="ru-RU" sz="1200" dirty="0" err="1"/>
              <a:t>алгоритмічного</a:t>
            </a:r>
            <a:r>
              <a:rPr lang="ru-RU" sz="1200" dirty="0"/>
              <a:t> </a:t>
            </a:r>
            <a:r>
              <a:rPr lang="ru-RU" sz="1200" dirty="0" err="1"/>
              <a:t>створення</a:t>
            </a:r>
            <a:r>
              <a:rPr lang="ru-RU" sz="1200" dirty="0"/>
              <a:t> </a:t>
            </a:r>
            <a:r>
              <a:rPr lang="ru-RU" sz="1200" dirty="0" err="1"/>
              <a:t>даних</a:t>
            </a:r>
            <a:r>
              <a:rPr lang="ru-RU" sz="1200" dirty="0"/>
              <a:t> за </a:t>
            </a:r>
            <a:r>
              <a:rPr lang="ru-RU" sz="1200" dirty="0" err="1"/>
              <a:t>допомогою</a:t>
            </a:r>
            <a:r>
              <a:rPr lang="ru-RU" sz="1200" dirty="0"/>
              <a:t> </a:t>
            </a:r>
            <a:r>
              <a:rPr lang="ru-RU" sz="1200" dirty="0" err="1"/>
              <a:t>комбінацій</a:t>
            </a:r>
            <a:r>
              <a:rPr lang="ru-RU" sz="1200" dirty="0"/>
              <a:t> </a:t>
            </a:r>
            <a:r>
              <a:rPr lang="ru-RU" sz="1200" dirty="0" err="1"/>
              <a:t>алгоритмів</a:t>
            </a:r>
            <a:r>
              <a:rPr lang="ru-RU" sz="1200" dirty="0"/>
              <a:t>, </a:t>
            </a:r>
            <a:r>
              <a:rPr lang="ru-RU" sz="1200" dirty="0" err="1"/>
              <a:t>поєднаних</a:t>
            </a:r>
            <a:r>
              <a:rPr lang="ru-RU" sz="1200" dirty="0"/>
              <a:t> </a:t>
            </a:r>
            <a:r>
              <a:rPr lang="ru-RU" sz="1200" dirty="0" err="1"/>
              <a:t>із</a:t>
            </a:r>
            <a:r>
              <a:rPr lang="ru-RU" sz="1200" dirty="0"/>
              <a:t> </a:t>
            </a:r>
            <a:r>
              <a:rPr lang="ru-RU" sz="1200" dirty="0" err="1"/>
              <a:t>випадковістю</a:t>
            </a:r>
            <a:r>
              <a:rPr lang="ru-RU" sz="1200" dirty="0" smtClean="0"/>
              <a:t>.</a:t>
            </a:r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Використовується</a:t>
            </a:r>
            <a:r>
              <a:rPr lang="ru-RU" sz="1200" dirty="0"/>
              <a:t> для </a:t>
            </a:r>
            <a:r>
              <a:rPr lang="ru-RU" sz="1200" dirty="0" err="1"/>
              <a:t>створення</a:t>
            </a:r>
            <a:r>
              <a:rPr lang="ru-RU" sz="1200" dirty="0"/>
              <a:t> </a:t>
            </a:r>
            <a:r>
              <a:rPr lang="ru-RU" sz="1200" dirty="0" err="1"/>
              <a:t>майже</a:t>
            </a:r>
            <a:r>
              <a:rPr lang="ru-RU" sz="1200" dirty="0"/>
              <a:t> </a:t>
            </a:r>
            <a:r>
              <a:rPr lang="ru-RU" sz="1200" dirty="0" err="1"/>
              <a:t>всіх</a:t>
            </a:r>
            <a:r>
              <a:rPr lang="ru-RU" sz="1200" dirty="0"/>
              <a:t> </a:t>
            </a:r>
            <a:r>
              <a:rPr lang="ru-RU" sz="1200" dirty="0" err="1"/>
              <a:t>елементів</a:t>
            </a:r>
            <a:r>
              <a:rPr lang="ru-RU" sz="1200" dirty="0"/>
              <a:t> </a:t>
            </a:r>
            <a:r>
              <a:rPr lang="ru-RU" sz="1200" dirty="0" err="1"/>
              <a:t>ігрового</a:t>
            </a:r>
            <a:r>
              <a:rPr lang="ru-RU" sz="1200" dirty="0"/>
              <a:t> </a:t>
            </a:r>
            <a:r>
              <a:rPr lang="ru-RU" sz="1200" dirty="0" err="1"/>
              <a:t>процесу</a:t>
            </a:r>
            <a:r>
              <a:rPr lang="ru-RU" sz="1200" dirty="0"/>
              <a:t> – </a:t>
            </a:r>
            <a:r>
              <a:rPr lang="ru-RU" sz="1200" dirty="0" err="1"/>
              <a:t>світів</a:t>
            </a:r>
            <a:r>
              <a:rPr lang="ru-RU" sz="1200" dirty="0"/>
              <a:t>, </a:t>
            </a:r>
            <a:r>
              <a:rPr lang="ru-RU" sz="1200" dirty="0" err="1"/>
              <a:t>рівнів</a:t>
            </a:r>
            <a:r>
              <a:rPr lang="ru-RU" sz="1200" dirty="0"/>
              <a:t>, текстур, моделей. 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Дозволяє</a:t>
            </a:r>
            <a:r>
              <a:rPr lang="ru-RU" sz="1200" dirty="0"/>
              <a:t> </a:t>
            </a:r>
            <a:r>
              <a:rPr lang="ru-RU" sz="1200" dirty="0" err="1"/>
              <a:t>швидко</a:t>
            </a:r>
            <a:r>
              <a:rPr lang="ru-RU" sz="1200" dirty="0"/>
              <a:t> </a:t>
            </a:r>
            <a:r>
              <a:rPr lang="ru-RU" sz="1200" dirty="0" err="1"/>
              <a:t>отримувати</a:t>
            </a:r>
            <a:r>
              <a:rPr lang="ru-RU" sz="1200" dirty="0"/>
              <a:t> </a:t>
            </a:r>
            <a:r>
              <a:rPr lang="ru-RU" sz="1200" dirty="0" err="1"/>
              <a:t>великі</a:t>
            </a:r>
            <a:r>
              <a:rPr lang="ru-RU" sz="1200" dirty="0"/>
              <a:t> </a:t>
            </a:r>
            <a:r>
              <a:rPr lang="ru-RU" sz="1200" dirty="0" err="1"/>
              <a:t>обсяги</a:t>
            </a:r>
            <a:r>
              <a:rPr lang="ru-RU" sz="1200" dirty="0"/>
              <a:t> </a:t>
            </a:r>
            <a:r>
              <a:rPr lang="ru-RU" sz="1200" dirty="0" err="1"/>
              <a:t>унікальних</a:t>
            </a:r>
            <a:r>
              <a:rPr lang="ru-RU" sz="1200" dirty="0"/>
              <a:t> </a:t>
            </a:r>
            <a:r>
              <a:rPr lang="ru-RU" sz="1200" dirty="0" err="1"/>
              <a:t>даних</a:t>
            </a:r>
            <a:r>
              <a:rPr lang="ru-RU" sz="1200" dirty="0"/>
              <a:t>.</a:t>
            </a:r>
          </a:p>
        </p:txBody>
      </p:sp>
      <p:pic>
        <p:nvPicPr>
          <p:cNvPr id="5" name="Рисунок 4" descr="dungeon13"/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28165" y="864504"/>
            <a:ext cx="3453155" cy="3525828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2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316443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Актуальність</a:t>
            </a:r>
            <a:endParaRPr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608426" y="1357159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1200" dirty="0" err="1"/>
              <a:t>Питання</a:t>
            </a:r>
            <a:r>
              <a:rPr lang="ru-RU" sz="1200" dirty="0"/>
              <a:t> </a:t>
            </a:r>
            <a:r>
              <a:rPr lang="ru-RU" sz="1200" dirty="0" err="1"/>
              <a:t>оцінки</a:t>
            </a:r>
            <a:r>
              <a:rPr lang="ru-RU" sz="1200" dirty="0"/>
              <a:t> </a:t>
            </a:r>
            <a:r>
              <a:rPr lang="ru-RU" sz="1200" dirty="0" err="1"/>
              <a:t>якості</a:t>
            </a:r>
            <a:r>
              <a:rPr lang="ru-RU" sz="1200" dirty="0"/>
              <a:t> </a:t>
            </a:r>
            <a:r>
              <a:rPr lang="ru-RU" sz="1200" dirty="0" err="1" smtClean="0"/>
              <a:t>генерації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Відсутність</a:t>
            </a:r>
            <a:r>
              <a:rPr lang="ru-RU" sz="1200" dirty="0"/>
              <a:t> </a:t>
            </a:r>
            <a:r>
              <a:rPr lang="ru-RU" sz="1200" dirty="0" err="1"/>
              <a:t>універсального</a:t>
            </a:r>
            <a:r>
              <a:rPr lang="ru-RU" sz="1200" dirty="0"/>
              <a:t> </a:t>
            </a:r>
            <a:r>
              <a:rPr lang="ru-RU" sz="1200" dirty="0" err="1" smtClean="0"/>
              <a:t>підходу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Обмеження</a:t>
            </a:r>
            <a:r>
              <a:rPr lang="ru-RU" sz="1200" dirty="0"/>
              <a:t> </a:t>
            </a:r>
            <a:r>
              <a:rPr lang="ru-RU" sz="1200" dirty="0" err="1"/>
              <a:t>продуктивності</a:t>
            </a:r>
            <a:r>
              <a:rPr lang="ru-RU" sz="1200" dirty="0"/>
              <a:t> веб-</a:t>
            </a:r>
            <a:r>
              <a:rPr lang="ru-RU" sz="1200" dirty="0" err="1"/>
              <a:t>середовища</a:t>
            </a:r>
            <a:endParaRPr lang="ru-RU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3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389111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>
                <a:solidFill>
                  <a:srgbClr val="3D85C6"/>
                </a:solidFill>
              </a:rPr>
              <a:t>Мета </a:t>
            </a:r>
            <a:r>
              <a:rPr lang="ru-RU" dirty="0" err="1" smtClean="0">
                <a:solidFill>
                  <a:srgbClr val="3D85C6"/>
                </a:solidFill>
              </a:rPr>
              <a:t>роботи</a:t>
            </a:r>
            <a:endParaRPr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608426" y="1357159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>
              <a:lnSpc>
                <a:spcPct val="100000"/>
              </a:lnSpc>
            </a:pPr>
            <a:r>
              <a:rPr lang="ru-RU" sz="1200" dirty="0" err="1"/>
              <a:t>Дослідження</a:t>
            </a:r>
            <a:r>
              <a:rPr lang="ru-RU" sz="1200" dirty="0"/>
              <a:t> </a:t>
            </a:r>
            <a:r>
              <a:rPr lang="ru-RU" sz="1200" dirty="0" err="1"/>
              <a:t>алгоритмів</a:t>
            </a:r>
            <a:r>
              <a:rPr lang="ru-RU" sz="1200" dirty="0"/>
              <a:t> </a:t>
            </a:r>
            <a:r>
              <a:rPr lang="ru-RU" sz="1200" dirty="0" err="1" smtClean="0"/>
              <a:t>генерації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Розробка</a:t>
            </a:r>
            <a:r>
              <a:rPr lang="ru-RU" sz="1200" dirty="0"/>
              <a:t> </a:t>
            </a:r>
            <a:r>
              <a:rPr lang="ru-RU" sz="1200" dirty="0" err="1"/>
              <a:t>власного</a:t>
            </a:r>
            <a:r>
              <a:rPr lang="ru-RU" sz="1200" dirty="0"/>
              <a:t> </a:t>
            </a:r>
            <a:r>
              <a:rPr lang="ru-RU" sz="1200" dirty="0" err="1" smtClean="0"/>
              <a:t>підходу</a:t>
            </a:r>
            <a:endParaRPr lang="ru-RU" sz="1200" dirty="0" smtClean="0"/>
          </a:p>
          <a:p>
            <a:pPr lvl="0">
              <a:lnSpc>
                <a:spcPct val="100000"/>
              </a:lnSpc>
            </a:pPr>
            <a:endParaRPr lang="ru-RU" sz="1200" dirty="0"/>
          </a:p>
          <a:p>
            <a:pPr lvl="0">
              <a:lnSpc>
                <a:spcPct val="100000"/>
              </a:lnSpc>
            </a:pPr>
            <a:r>
              <a:rPr lang="ru-RU" sz="1200" dirty="0" err="1"/>
              <a:t>Розробка</a:t>
            </a:r>
            <a:r>
              <a:rPr lang="ru-RU" sz="1200" dirty="0"/>
              <a:t> метрик для </a:t>
            </a:r>
            <a:r>
              <a:rPr lang="ru-RU" sz="1200" dirty="0" err="1"/>
              <a:t>оцінки</a:t>
            </a:r>
            <a:r>
              <a:rPr lang="ru-RU" sz="1200" dirty="0"/>
              <a:t> і </a:t>
            </a:r>
            <a:r>
              <a:rPr lang="ru-RU" sz="1200" dirty="0" err="1"/>
              <a:t>порівняння</a:t>
            </a:r>
            <a:r>
              <a:rPr lang="ru-RU" sz="1200" dirty="0"/>
              <a:t> </a:t>
            </a:r>
            <a:r>
              <a:rPr lang="ru-RU" sz="1200" dirty="0" err="1"/>
              <a:t>алгоритмів</a:t>
            </a:r>
            <a:endParaRPr lang="ru-RU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4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275946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6371972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Архітектура</a:t>
            </a:r>
            <a:endParaRPr lang="ru-RU" dirty="0">
              <a:solidFill>
                <a:srgbClr val="3D85C6"/>
              </a:solidFill>
            </a:endParaRPr>
          </a:p>
        </p:txBody>
      </p:sp>
      <p:pic>
        <p:nvPicPr>
          <p:cNvPr id="1026" name="Picture 2" descr="Курсач магистр архітектура (1)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1697" y="1495739"/>
            <a:ext cx="3945636" cy="293476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7" name="Номер слайда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5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980303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6371972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Представлення</a:t>
            </a:r>
            <a:r>
              <a:rPr lang="ru-RU" dirty="0" smtClean="0">
                <a:solidFill>
                  <a:srgbClr val="3D85C6"/>
                </a:solidFill>
              </a:rPr>
              <a:t> </a:t>
            </a:r>
            <a:r>
              <a:rPr lang="ru-RU" dirty="0" err="1" smtClean="0">
                <a:solidFill>
                  <a:srgbClr val="3D85C6"/>
                </a:solidFill>
              </a:rPr>
              <a:t>рівня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7" name="Номер слайда 6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6</a:t>
            </a:fld>
            <a:endParaRPr lang="ru"/>
          </a:p>
        </p:txBody>
      </p:sp>
      <p:pic>
        <p:nvPicPr>
          <p:cNvPr id="2" name="Picture 2" descr="C:\Users\admin\Desktop\465e6518e606b4eb70e4d04b2b3ca8c1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9480" y="1401209"/>
            <a:ext cx="3455988" cy="30696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3" descr="C:\Users\admin\Desktop\example_valid_tiling.png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51884" y="1360906"/>
            <a:ext cx="3229786" cy="31502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793484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934117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Алгоритми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5" y="1353381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uk-UA" sz="1200" dirty="0"/>
              <a:t>М</a:t>
            </a:r>
            <a:r>
              <a:rPr lang="ru-RU" sz="1200" dirty="0" err="1"/>
              <a:t>етод</a:t>
            </a:r>
            <a:r>
              <a:rPr lang="ru-RU" sz="1200" dirty="0"/>
              <a:t> </a:t>
            </a:r>
            <a:r>
              <a:rPr lang="ru-RU" sz="1200" dirty="0" err="1"/>
              <a:t>двійкового</a:t>
            </a:r>
            <a:r>
              <a:rPr lang="ru-RU" sz="1200" dirty="0"/>
              <a:t> </a:t>
            </a:r>
            <a:r>
              <a:rPr lang="ru-RU" sz="1200" dirty="0" err="1"/>
              <a:t>поділу</a:t>
            </a:r>
            <a:r>
              <a:rPr lang="ru-RU" sz="1200" dirty="0"/>
              <a:t> простору</a:t>
            </a:r>
            <a:r>
              <a:rPr lang="en-US" sz="1200" dirty="0"/>
              <a:t> (</a:t>
            </a:r>
            <a:r>
              <a:rPr lang="en-AU" sz="1200" dirty="0"/>
              <a:t>BSP</a:t>
            </a:r>
            <a:r>
              <a:rPr lang="en-AU" sz="1200" dirty="0" smtClean="0"/>
              <a:t>)</a:t>
            </a:r>
            <a:endParaRPr lang="uk-UA" sz="1200" dirty="0" smtClean="0"/>
          </a:p>
          <a:p>
            <a:pPr marL="114300" indent="0">
              <a:buNone/>
            </a:pPr>
            <a:endParaRPr lang="uk-UA" sz="1200" dirty="0"/>
          </a:p>
          <a:p>
            <a:r>
              <a:rPr lang="uk-UA" sz="1200" dirty="0"/>
              <a:t>Випадкове блукання (</a:t>
            </a:r>
            <a:r>
              <a:rPr lang="en-AU" sz="1200" dirty="0"/>
              <a:t>Random Walk</a:t>
            </a:r>
            <a:r>
              <a:rPr lang="uk-UA" sz="1200" dirty="0" smtClean="0"/>
              <a:t>)</a:t>
            </a:r>
            <a:endParaRPr lang="uk-UA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7</a:t>
            </a:fld>
            <a:endParaRPr lang="ru"/>
          </a:p>
        </p:txBody>
      </p:sp>
      <p:pic>
        <p:nvPicPr>
          <p:cNvPr id="1028" name="Picture 4" descr="4 Двійковий поділ простору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26978"/>
            <a:ext cx="3573868" cy="21477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9" name="Picture 5" descr="Випадкове блукання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639440"/>
            <a:ext cx="3573868" cy="21432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956197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2934117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Алгоритми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5" y="1353381"/>
            <a:ext cx="3218732" cy="295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uk-UA" sz="1200" dirty="0" smtClean="0"/>
              <a:t>Клітинні </a:t>
            </a:r>
            <a:r>
              <a:rPr lang="uk-UA" sz="1200" dirty="0"/>
              <a:t>Автомати (</a:t>
            </a:r>
            <a:r>
              <a:rPr lang="en-AU" sz="1200" dirty="0"/>
              <a:t>Cellular</a:t>
            </a:r>
            <a:r>
              <a:rPr lang="uk-UA" sz="1200" dirty="0"/>
              <a:t> </a:t>
            </a:r>
            <a:r>
              <a:rPr lang="en-AU" sz="1200" dirty="0"/>
              <a:t>Automata</a:t>
            </a:r>
            <a:r>
              <a:rPr lang="uk-UA" sz="1200" dirty="0" smtClean="0"/>
              <a:t>)</a:t>
            </a:r>
          </a:p>
          <a:p>
            <a:endParaRPr lang="uk-UA" sz="1200" dirty="0"/>
          </a:p>
          <a:p>
            <a:r>
              <a:rPr lang="uk-UA" sz="1200" dirty="0"/>
              <a:t>Шум </a:t>
            </a:r>
            <a:r>
              <a:rPr lang="uk-UA" sz="1200" dirty="0" err="1"/>
              <a:t>Перліна</a:t>
            </a:r>
            <a:r>
              <a:rPr lang="uk-UA" sz="1200" dirty="0"/>
              <a:t> (</a:t>
            </a:r>
            <a:r>
              <a:rPr lang="en-AU" sz="1200" dirty="0" err="1"/>
              <a:t>Perlin</a:t>
            </a:r>
            <a:r>
              <a:rPr lang="en-AU" sz="1200" dirty="0"/>
              <a:t> Noise</a:t>
            </a:r>
            <a:r>
              <a:rPr lang="uk-UA" sz="1200" dirty="0" smtClean="0"/>
              <a:t>)</a:t>
            </a:r>
          </a:p>
          <a:p>
            <a:endParaRPr lang="uk-UA" sz="1200" dirty="0"/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8</a:t>
            </a:fld>
            <a:endParaRPr lang="ru"/>
          </a:p>
        </p:txBody>
      </p:sp>
      <p:pic>
        <p:nvPicPr>
          <p:cNvPr id="8" name="Picture 2" descr="3 Клітинні автомати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01039"/>
            <a:ext cx="3573868" cy="215224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 descr="Шум Перліна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87692" y="2632956"/>
            <a:ext cx="3573868" cy="21414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7005882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99908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Комбінований</a:t>
            </a:r>
            <a:r>
              <a:rPr lang="ru-RU" dirty="0" smtClean="0">
                <a:solidFill>
                  <a:srgbClr val="3D85C6"/>
                </a:solidFill>
              </a:rPr>
              <a:t> алгоритм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5" y="1353381"/>
            <a:ext cx="3218732" cy="705533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AU" sz="1200" dirty="0"/>
              <a:t>BSP → </a:t>
            </a:r>
            <a:r>
              <a:rPr lang="uk-UA" sz="1200" dirty="0"/>
              <a:t>структура</a:t>
            </a:r>
          </a:p>
          <a:p>
            <a:r>
              <a:rPr lang="en-AU" sz="1200" dirty="0"/>
              <a:t>CA → </a:t>
            </a:r>
            <a:r>
              <a:rPr lang="uk-UA" sz="1200" dirty="0"/>
              <a:t>природність</a:t>
            </a:r>
          </a:p>
        </p:txBody>
      </p:sp>
      <p:sp>
        <p:nvSpPr>
          <p:cNvPr id="7" name="Google Shape;73;p14"/>
          <p:cNvSpPr txBox="1">
            <a:spLocks/>
          </p:cNvSpPr>
          <p:nvPr/>
        </p:nvSpPr>
        <p:spPr>
          <a:xfrm>
            <a:off x="4218590" y="1342279"/>
            <a:ext cx="3218732" cy="7055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Open Sans"/>
              <a:buChar char="●"/>
              <a:defRPr sz="18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●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○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Open Sans"/>
              <a:buChar char="■"/>
              <a:defRPr sz="1400" b="0" i="0" u="none" strike="noStrike" cap="none">
                <a:solidFill>
                  <a:schemeClr val="dk2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r>
              <a:rPr lang="ru-RU" sz="1200" dirty="0"/>
              <a:t>Баланс </a:t>
            </a:r>
            <a:r>
              <a:rPr lang="ru-RU" sz="1200" dirty="0" err="1"/>
              <a:t>між</a:t>
            </a:r>
            <a:r>
              <a:rPr lang="ru-RU" sz="1200" dirty="0"/>
              <a:t> </a:t>
            </a:r>
            <a:r>
              <a:rPr lang="ru-RU" sz="1200" dirty="0" err="1"/>
              <a:t>структурованістю</a:t>
            </a:r>
            <a:r>
              <a:rPr lang="ru-RU" sz="1200" dirty="0"/>
              <a:t> і </a:t>
            </a:r>
            <a:r>
              <a:rPr lang="ru-RU" sz="1200" dirty="0" err="1"/>
              <a:t>природністю</a:t>
            </a:r>
            <a:endParaRPr lang="ru-RU" sz="1200" dirty="0"/>
          </a:p>
        </p:txBody>
      </p:sp>
      <p:pic>
        <p:nvPicPr>
          <p:cNvPr id="8" name="Picture 2" descr="4 Двійковий поділ простору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009" y="2157098"/>
            <a:ext cx="3851864" cy="231480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" name="Picture 3" descr="Комбінований алгоритм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44666" y="2141905"/>
            <a:ext cx="3885295" cy="23300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9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3618368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99908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>
                <a:solidFill>
                  <a:srgbClr val="3D85C6"/>
                </a:solidFill>
              </a:rPr>
              <a:t>Метрики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Google Shape;73;p14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402534" y="1353381"/>
                <a:ext cx="3456103" cy="1273087"/>
              </a:xfrm>
              <a:prstGeom prst="rect">
                <a:avLst/>
              </a:prstGeom>
            </p:spPr>
            <p:txBody>
              <a:bodyPr spcFirstLastPara="1" wrap="square" lIns="91425" tIns="91425" rIns="91425" bIns="91425" anchor="t" anchorCtr="0">
                <a:noAutofit/>
              </a:bodyPr>
              <a:lstStyle/>
              <a:p>
                <a:r>
                  <a:rPr lang="uk-UA" sz="1200" dirty="0"/>
                  <a:t>Коефіцієнт прохідності</a:t>
                </a:r>
              </a:p>
              <a:p>
                <a:endParaRPr lang="uk-UA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uk-UA" sz="1200" i="1">
                          <a:latin typeface="Cambria Math"/>
                        </a:rPr>
                        <m:t>𝑊</m:t>
                      </m:r>
                      <m:r>
                        <a:rPr lang="uk-UA" sz="12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i="1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𝑓𝑙𝑜𝑜𝑟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𝑡𝑜𝑡𝑎𝑙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uk-UA" sz="1200" dirty="0"/>
              </a:p>
            </p:txBody>
          </p:sp>
        </mc:Choice>
        <mc:Fallback xmlns="">
          <p:sp>
            <p:nvSpPr>
              <p:cNvPr id="10" name="Google Shape;73;p14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02534" y="1353381"/>
                <a:ext cx="3456103" cy="1273087"/>
              </a:xfrm>
              <a:prstGeom prst="rect">
                <a:avLst/>
              </a:prstGeom>
              <a:blipFill rotWithShape="1">
                <a:blip r:embed="rId3"/>
                <a:stretch>
                  <a:fillRect t="-143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Google Shape;73;p14"/>
              <p:cNvSpPr txBox="1">
                <a:spLocks/>
              </p:cNvSpPr>
              <p:nvPr/>
            </p:nvSpPr>
            <p:spPr>
              <a:xfrm>
                <a:off x="477112" y="2951959"/>
                <a:ext cx="3456103" cy="127308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800"/>
                  <a:buFont typeface="Open Sans"/>
                  <a:buChar char="●"/>
                  <a:defRPr sz="18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1pPr>
                <a:lvl2pPr marL="914400" marR="0" lvl="1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2pPr>
                <a:lvl3pPr marL="1371600" marR="0" lvl="2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3pPr>
                <a:lvl4pPr marL="1828800" marR="0" lvl="3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4pPr>
                <a:lvl5pPr marL="2286000" marR="0" lvl="4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5pPr>
                <a:lvl6pPr marL="2743200" marR="0" lvl="5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6pPr>
                <a:lvl7pPr marL="3200400" marR="0" lvl="6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7pPr>
                <a:lvl8pPr marL="3657600" marR="0" lvl="7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8pPr>
                <a:lvl9pPr marL="4114800" marR="0" lvl="8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9pPr>
              </a:lstStyle>
              <a:p>
                <a:r>
                  <a:rPr lang="uk-UA" sz="1200" dirty="0"/>
                  <a:t>Прямолінійність меж</a:t>
                </a:r>
              </a:p>
              <a:p>
                <a:endParaRPr lang="uk-UA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uk-UA" sz="1200" i="1">
                          <a:latin typeface="Cambria Math"/>
                        </a:rPr>
                        <m:t>𝑆</m:t>
                      </m:r>
                      <m:r>
                        <a:rPr lang="uk-UA" sz="12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i="1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𝐿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𝑠𝑡𝑟𝑎𝑖𝑔h𝑡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𝑐𝑜𝑛𝑡𝑜𝑢𝑟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1200" dirty="0"/>
              </a:p>
            </p:txBody>
          </p:sp>
        </mc:Choice>
        <mc:Fallback xmlns="">
          <p:sp>
            <p:nvSpPr>
              <p:cNvPr id="11" name="Google Shape;73;p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7112" y="2951959"/>
                <a:ext cx="3456103" cy="1273087"/>
              </a:xfrm>
              <a:prstGeom prst="rect">
                <a:avLst/>
              </a:prstGeom>
              <a:blipFill rotWithShape="1">
                <a:blip r:embed="rId4"/>
                <a:stretch>
                  <a:fillRect t="-1435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Google Shape;73;p14"/>
              <p:cNvSpPr txBox="1">
                <a:spLocks/>
              </p:cNvSpPr>
              <p:nvPr/>
            </p:nvSpPr>
            <p:spPr>
              <a:xfrm>
                <a:off x="3573750" y="1282044"/>
                <a:ext cx="3456103" cy="1804867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t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</a:defPPr>
                <a:lvl1pPr marL="457200" marR="0" lvl="0" indent="-3429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800"/>
                  <a:buFont typeface="Open Sans"/>
                  <a:buChar char="●"/>
                  <a:defRPr sz="18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1pPr>
                <a:lvl2pPr marL="914400" marR="0" lvl="1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2pPr>
                <a:lvl3pPr marL="1371600" marR="0" lvl="2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3pPr>
                <a:lvl4pPr marL="1828800" marR="0" lvl="3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4pPr>
                <a:lvl5pPr marL="2286000" marR="0" lvl="4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5pPr>
                <a:lvl6pPr marL="2743200" marR="0" lvl="5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6pPr>
                <a:lvl7pPr marL="3200400" marR="0" lvl="6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●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7pPr>
                <a:lvl8pPr marL="3657600" marR="0" lvl="7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○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8pPr>
                <a:lvl9pPr marL="4114800" marR="0" lvl="8" indent="-317500" algn="l" rtl="0">
                  <a:lnSpc>
                    <a:spcPct val="115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2"/>
                  </a:buClr>
                  <a:buSzPts val="1400"/>
                  <a:buFont typeface="Open Sans"/>
                  <a:buChar char="■"/>
                  <a:defRPr sz="1400" b="0" i="0" u="none" strike="noStrike" cap="none">
                    <a:solidFill>
                      <a:schemeClr val="dk2"/>
                    </a:solidFill>
                    <a:latin typeface="Open Sans"/>
                    <a:ea typeface="Open Sans"/>
                    <a:cs typeface="Open Sans"/>
                    <a:sym typeface="Open Sans"/>
                  </a:defRPr>
                </a:lvl9pPr>
              </a:lstStyle>
              <a:p>
                <a:r>
                  <a:rPr lang="uk-UA" sz="1200" dirty="0"/>
                  <a:t>Кількість компонент </a:t>
                </a:r>
                <a:r>
                  <a:rPr lang="uk-UA" sz="1200" dirty="0" smtClean="0"/>
                  <a:t>зв’язності</a:t>
                </a:r>
              </a:p>
              <a:p>
                <a:endParaRPr lang="uk-UA" sz="1200" dirty="0"/>
              </a:p>
              <a:p>
                <a:r>
                  <a:rPr lang="uk-UA" sz="1200" dirty="0"/>
                  <a:t>Відносний розмір найбільшої компоненти</a:t>
                </a:r>
              </a:p>
              <a:p>
                <a:endParaRPr lang="uk-UA" sz="12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uk-UA" sz="1200" i="1">
                          <a:latin typeface="Cambria Math"/>
                        </a:rPr>
                        <m:t>𝐿</m:t>
                      </m:r>
                      <m:r>
                        <a:rPr lang="uk-UA" sz="1200" i="1">
                          <a:latin typeface="Cambria Math"/>
                        </a:rPr>
                        <m:t>=</m:t>
                      </m:r>
                      <m:f>
                        <m:fPr>
                          <m:ctrlPr>
                            <a:rPr lang="ru-RU" sz="1200" i="1">
                              <a:latin typeface="Cambria Math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𝑙𝑎𝑟𝑔𝑒𝑠𝑡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ru-RU" sz="1200" i="1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uk-UA" sz="1200" i="1">
                                  <a:latin typeface="Cambria Math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uk-UA" sz="1200" i="1">
                                  <a:latin typeface="Cambria Math"/>
                                </a:rPr>
                                <m:t>𝑓𝑙𝑜𝑜𝑟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ru-RU" sz="1200" dirty="0"/>
              </a:p>
            </p:txBody>
          </p:sp>
        </mc:Choice>
        <mc:Fallback xmlns="">
          <p:sp>
            <p:nvSpPr>
              <p:cNvPr id="12" name="Google Shape;73;p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573750" y="1282044"/>
                <a:ext cx="3456103" cy="1804867"/>
              </a:xfrm>
              <a:prstGeom prst="rect">
                <a:avLst/>
              </a:prstGeom>
              <a:blipFill rotWithShape="1">
                <a:blip r:embed="rId5"/>
                <a:stretch>
                  <a:fillRect t="-10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10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8235193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699" y="445025"/>
            <a:ext cx="5194155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>
                <a:solidFill>
                  <a:srgbClr val="3D85C6"/>
                </a:solidFill>
              </a:rPr>
              <a:t>Проведення</a:t>
            </a:r>
            <a:r>
              <a:rPr lang="ru-RU" dirty="0">
                <a:solidFill>
                  <a:srgbClr val="3D85C6"/>
                </a:solidFill>
              </a:rPr>
              <a:t> </a:t>
            </a:r>
            <a:r>
              <a:rPr lang="ru-RU" dirty="0" err="1" smtClean="0">
                <a:solidFill>
                  <a:srgbClr val="3D85C6"/>
                </a:solidFill>
              </a:rPr>
              <a:t>експерименту</a:t>
            </a:r>
            <a:endParaRPr lang="ru-RU" dirty="0">
              <a:solidFill>
                <a:srgbClr val="3D85C6"/>
              </a:solidFill>
            </a:endParaRPr>
          </a:p>
        </p:txBody>
      </p:sp>
      <p:graphicFrame>
        <p:nvGraphicFramePr>
          <p:cNvPr id="4" name="Таблица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48005143"/>
              </p:ext>
            </p:extLst>
          </p:nvPr>
        </p:nvGraphicFramePr>
        <p:xfrm>
          <a:off x="616086" y="1225684"/>
          <a:ext cx="7971557" cy="3284773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95080"/>
                <a:gridCol w="1121923"/>
                <a:gridCol w="1511030"/>
                <a:gridCol w="1303508"/>
                <a:gridCol w="1240016"/>
              </a:tblGrid>
              <a:tr h="533108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Алгоритм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W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Компоненти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L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S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Алгоритм </a:t>
                      </a:r>
                      <a:r>
                        <a:rPr lang="uk-UA" sz="1200" dirty="0" smtClean="0">
                          <a:effectLst/>
                        </a:rPr>
                        <a:t>двійкового</a:t>
                      </a:r>
                      <a:r>
                        <a:rPr lang="uk-UA" sz="1200" baseline="0" dirty="0" smtClean="0">
                          <a:effectLst/>
                        </a:rPr>
                        <a:t> </a:t>
                      </a:r>
                      <a:r>
                        <a:rPr lang="uk-UA" sz="1200" dirty="0" smtClean="0">
                          <a:effectLst/>
                        </a:rPr>
                        <a:t>поділу </a:t>
                      </a:r>
                      <a:r>
                        <a:rPr lang="uk-UA" sz="1200" dirty="0">
                          <a:effectLst/>
                        </a:rPr>
                        <a:t>простору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0.31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0.95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Клітинні автомати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0.48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solidFill>
                            <a:srgbClr val="0070C0"/>
                          </a:solidFill>
                          <a:effectLst/>
                        </a:rPr>
                        <a:t>2</a:t>
                      </a: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5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solidFill>
                            <a:srgbClr val="0070C0"/>
                          </a:solidFill>
                          <a:effectLst/>
                        </a:rPr>
                        <a:t>0.8</a:t>
                      </a: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0.06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Шум </a:t>
                      </a:r>
                      <a:r>
                        <a:rPr lang="uk-UA" sz="1200" dirty="0" err="1">
                          <a:effectLst/>
                        </a:rPr>
                        <a:t>Перліна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0.49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16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0.63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0.17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Випадкове блукання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0.35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0.05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550333"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 dirty="0">
                          <a:effectLst/>
                        </a:rPr>
                        <a:t>Комбінований алгоритм</a:t>
                      </a:r>
                      <a:endParaRPr lang="ru-RU" sz="1200" dirty="0"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>
                          <a:solidFill>
                            <a:srgbClr val="0070C0"/>
                          </a:solidFill>
                          <a:effectLst/>
                        </a:rPr>
                        <a:t>0.41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uk-UA" sz="120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1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indent="450215" algn="ctr">
                        <a:lnSpc>
                          <a:spcPct val="150000"/>
                        </a:lnSpc>
                        <a:spcBef>
                          <a:spcPts val="1200"/>
                        </a:spcBef>
                        <a:spcAft>
                          <a:spcPts val="0"/>
                        </a:spcAft>
                      </a:pPr>
                      <a:r>
                        <a:rPr lang="en-US" sz="1200" dirty="0">
                          <a:solidFill>
                            <a:srgbClr val="0070C0"/>
                          </a:solidFill>
                          <a:effectLst/>
                        </a:rPr>
                        <a:t>0.22</a:t>
                      </a:r>
                      <a:endParaRPr lang="ru-RU" sz="1200" dirty="0">
                        <a:solidFill>
                          <a:srgbClr val="0070C0"/>
                        </a:solidFill>
                        <a:effectLst/>
                        <a:latin typeface="Times New Roman"/>
                        <a:ea typeface="MS Mincho"/>
                        <a:cs typeface="Times New Roman"/>
                      </a:endParaRPr>
                    </a:p>
                  </a:txBody>
                  <a:tcPr marL="58964" marR="58964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6" name="Номер слайда 5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11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16079164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699" y="445025"/>
            <a:ext cx="5194155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Багатокритеріальна</a:t>
            </a:r>
            <a:r>
              <a:rPr lang="ru-RU" dirty="0" smtClean="0">
                <a:solidFill>
                  <a:srgbClr val="3D85C6"/>
                </a:solidFill>
              </a:rPr>
              <a:t> </a:t>
            </a:r>
            <a:r>
              <a:rPr lang="ru-RU" dirty="0" err="1" smtClean="0">
                <a:solidFill>
                  <a:srgbClr val="3D85C6"/>
                </a:solidFill>
              </a:rPr>
              <a:t>оцінка</a:t>
            </a:r>
            <a:endParaRPr lang="ru-RU" dirty="0">
              <a:solidFill>
                <a:srgbClr val="3D85C6"/>
              </a:solidFill>
            </a:endParaRPr>
          </a:p>
        </p:txBody>
      </p:sp>
      <p:graphicFrame>
        <p:nvGraphicFramePr>
          <p:cNvPr id="3" name="Таблица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3190037"/>
              </p:ext>
            </p:extLst>
          </p:nvPr>
        </p:nvGraphicFramePr>
        <p:xfrm>
          <a:off x="1168528" y="1763950"/>
          <a:ext cx="6380136" cy="2302279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3150870"/>
                <a:gridCol w="3229266"/>
              </a:tblGrid>
              <a:tr h="382039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Алгоритм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 smtClean="0">
                          <a:effectLst/>
                        </a:rPr>
                        <a:t>Якість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Алгоритм двійкового поділу простору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solidFill>
                            <a:srgbClr val="0070C0"/>
                          </a:solidFill>
                          <a:effectLst/>
                        </a:rPr>
                        <a:t>0.65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Клітинні автомати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 smtClean="0">
                          <a:solidFill>
                            <a:srgbClr val="0070C0"/>
                          </a:solidFill>
                          <a:effectLst/>
                        </a:rPr>
                        <a:t>0.34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Шум </a:t>
                      </a:r>
                      <a:r>
                        <a:rPr lang="uk-UA" sz="1400" dirty="0" err="1">
                          <a:effectLst/>
                        </a:rPr>
                        <a:t>Перліна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 smtClean="0">
                          <a:solidFill>
                            <a:srgbClr val="0070C0"/>
                          </a:solidFill>
                          <a:effectLst/>
                        </a:rPr>
                        <a:t>0.326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Випадкове блукання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 smtClean="0">
                          <a:solidFill>
                            <a:srgbClr val="0070C0"/>
                          </a:solidFill>
                          <a:effectLst/>
                        </a:rPr>
                        <a:t>0.892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>
                          <a:effectLst/>
                        </a:rPr>
                        <a:t>Комбінований алгоритм</a:t>
                      </a:r>
                      <a:endParaRPr lang="ru-RU" sz="1100" dirty="0"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rgbClr val="0070C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50000"/>
                        </a:lnSpc>
                        <a:spcAft>
                          <a:spcPts val="0"/>
                        </a:spcAft>
                      </a:pPr>
                      <a:r>
                        <a:rPr lang="uk-UA" sz="1400" dirty="0" smtClean="0">
                          <a:solidFill>
                            <a:srgbClr val="0070C0"/>
                          </a:solidFill>
                          <a:effectLst/>
                        </a:rPr>
                        <a:t>0.966</a:t>
                      </a:r>
                      <a:endParaRPr lang="ru-RU" sz="1100" dirty="0">
                        <a:solidFill>
                          <a:srgbClr val="0070C0"/>
                        </a:solidFill>
                        <a:effectLst/>
                        <a:latin typeface="Calibri"/>
                        <a:ea typeface="Calibri"/>
                        <a:cs typeface="Times New Roman"/>
                      </a:endParaRPr>
                    </a:p>
                  </a:txBody>
                  <a:tcPr marL="68580" marR="68580" marT="0" marB="0">
                    <a:solidFill>
                      <a:schemeClr val="tx1">
                        <a:lumMod val="60000"/>
                        <a:lumOff val="40000"/>
                      </a:schemeClr>
                    </a:solidFill>
                  </a:tcPr>
                </a:tc>
              </a:tr>
            </a:tbl>
          </a:graphicData>
        </a:graphic>
      </p:graphicFrame>
      <p:sp>
        <p:nvSpPr>
          <p:cNvPr id="5" name="Номер слайда 4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12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27859564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3999908" cy="70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 fontScale="90000"/>
          </a:bodyPr>
          <a:lstStyle/>
          <a:p>
            <a:pPr lvl="0"/>
            <a:r>
              <a:rPr lang="ru-RU" dirty="0" err="1" smtClean="0">
                <a:solidFill>
                  <a:srgbClr val="3D85C6"/>
                </a:solidFill>
              </a:rPr>
              <a:t>Висновки</a:t>
            </a:r>
            <a:endParaRPr lang="ru-RU" dirty="0">
              <a:solidFill>
                <a:srgbClr val="3D85C6"/>
              </a:solidFill>
            </a:endParaRPr>
          </a:p>
        </p:txBody>
      </p:sp>
      <p:sp>
        <p:nvSpPr>
          <p:cNvPr id="10" name="Google Shape;73;p14"/>
          <p:cNvSpPr txBox="1">
            <a:spLocks noGrp="1"/>
          </p:cNvSpPr>
          <p:nvPr>
            <p:ph type="body" idx="1"/>
          </p:nvPr>
        </p:nvSpPr>
        <p:spPr>
          <a:xfrm>
            <a:off x="402534" y="1353381"/>
            <a:ext cx="3456103" cy="1843776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sz="1200" dirty="0" err="1"/>
              <a:t>Проаналізовано</a:t>
            </a:r>
            <a:r>
              <a:rPr lang="ru-RU" sz="1200" dirty="0"/>
              <a:t> </a:t>
            </a:r>
            <a:r>
              <a:rPr lang="ru-RU" sz="1200" dirty="0" err="1"/>
              <a:t>алгоритми</a:t>
            </a:r>
            <a:r>
              <a:rPr lang="ru-RU" sz="1200" dirty="0"/>
              <a:t> </a:t>
            </a:r>
            <a:r>
              <a:rPr lang="ru-RU" sz="1200" dirty="0" smtClean="0">
                <a:solidFill>
                  <a:srgbClr val="00B050"/>
                </a:solidFill>
              </a:rPr>
              <a:t>✔</a:t>
            </a:r>
          </a:p>
          <a:p>
            <a:endParaRPr lang="ru-RU" sz="1200" dirty="0">
              <a:solidFill>
                <a:srgbClr val="00B050"/>
              </a:solidFill>
            </a:endParaRPr>
          </a:p>
          <a:p>
            <a:r>
              <a:rPr lang="ru-RU" sz="1200" dirty="0" err="1"/>
              <a:t>Реалізовано</a:t>
            </a:r>
            <a:r>
              <a:rPr lang="ru-RU" sz="1200" dirty="0"/>
              <a:t> систему </a:t>
            </a:r>
            <a:r>
              <a:rPr lang="ru-RU" sz="1200" dirty="0" smtClean="0">
                <a:solidFill>
                  <a:srgbClr val="00B050"/>
                </a:solidFill>
              </a:rPr>
              <a:t>✔</a:t>
            </a:r>
          </a:p>
          <a:p>
            <a:endParaRPr lang="ru-RU" sz="1200" dirty="0">
              <a:solidFill>
                <a:srgbClr val="00B050"/>
              </a:solidFill>
            </a:endParaRPr>
          </a:p>
          <a:p>
            <a:r>
              <a:rPr lang="ru-RU" sz="1200" dirty="0" err="1"/>
              <a:t>Запропоновано</a:t>
            </a:r>
            <a:r>
              <a:rPr lang="ru-RU" sz="1200" dirty="0"/>
              <a:t> метрики </a:t>
            </a:r>
            <a:r>
              <a:rPr lang="ru-RU" sz="1200" dirty="0" smtClean="0">
                <a:solidFill>
                  <a:srgbClr val="00B050"/>
                </a:solidFill>
              </a:rPr>
              <a:t>✔</a:t>
            </a:r>
          </a:p>
          <a:p>
            <a:endParaRPr lang="ru-RU" sz="1200" dirty="0">
              <a:solidFill>
                <a:srgbClr val="00B050"/>
              </a:solidFill>
            </a:endParaRPr>
          </a:p>
          <a:p>
            <a:r>
              <a:rPr lang="ru-RU" sz="1200" dirty="0" err="1"/>
              <a:t>Розроблено</a:t>
            </a:r>
            <a:r>
              <a:rPr lang="ru-RU" sz="1200" dirty="0"/>
              <a:t> </a:t>
            </a:r>
            <a:r>
              <a:rPr lang="ru-RU" sz="1200" dirty="0" err="1"/>
              <a:t>гібридний</a:t>
            </a:r>
            <a:r>
              <a:rPr lang="ru-RU" sz="1200" dirty="0"/>
              <a:t> алгоритм </a:t>
            </a:r>
            <a:r>
              <a:rPr lang="ru-RU" sz="1200" dirty="0">
                <a:solidFill>
                  <a:srgbClr val="00B050"/>
                </a:solidFill>
              </a:rPr>
              <a:t>✔</a:t>
            </a: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13</a:t>
            </a:fld>
            <a:endParaRPr lang="ru"/>
          </a:p>
        </p:txBody>
      </p:sp>
    </p:spTree>
    <p:extLst>
      <p:ext uri="{BB962C8B-B14F-4D97-AF65-F5344CB8AC3E}">
        <p14:creationId xmlns:p14="http://schemas.microsoft.com/office/powerpoint/2010/main" val="9138185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3"/>
          <p:cNvSpPr txBox="1">
            <a:spLocks noGrp="1"/>
          </p:cNvSpPr>
          <p:nvPr>
            <p:ph type="ctrTitle"/>
          </p:nvPr>
        </p:nvSpPr>
        <p:spPr>
          <a:xfrm>
            <a:off x="917750" y="1562879"/>
            <a:ext cx="7136700" cy="1428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6000">
                <a:solidFill>
                  <a:srgbClr val="3D85C6"/>
                </a:solidFill>
              </a:rPr>
              <a:t>Дякую за увагу!</a:t>
            </a:r>
            <a:endParaRPr sz="6000">
              <a:solidFill>
                <a:srgbClr val="3D85C6"/>
              </a:solidFill>
            </a:endParaRPr>
          </a:p>
        </p:txBody>
      </p:sp>
      <p:sp>
        <p:nvSpPr>
          <p:cNvPr id="148" name="Google Shape;148;p23"/>
          <p:cNvSpPr/>
          <p:nvPr/>
        </p:nvSpPr>
        <p:spPr>
          <a:xfrm>
            <a:off x="1171100" y="2880925"/>
            <a:ext cx="1350600" cy="515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9" name="Google Shape;149;p23"/>
          <p:cNvSpPr/>
          <p:nvPr/>
        </p:nvSpPr>
        <p:spPr>
          <a:xfrm>
            <a:off x="6550375" y="2880925"/>
            <a:ext cx="1350600" cy="51540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solidFill>
                <a:schemeClr val="lt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2" name="Номер слайда 1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 smtClean="0"/>
              <a:t>14</a:t>
            </a:fld>
            <a:endParaRPr lang="ru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ropic">
  <a:themeElements>
    <a:clrScheme name="Tropic">
      <a:dk1>
        <a:srgbClr val="A1E8D9"/>
      </a:dk1>
      <a:lt1>
        <a:srgbClr val="FFFFFF"/>
      </a:lt1>
      <a:dk2>
        <a:srgbClr val="695D46"/>
      </a:dk2>
      <a:lt2>
        <a:srgbClr val="B3A77D"/>
      </a:lt2>
      <a:accent1>
        <a:srgbClr val="EF6C00"/>
      </a:accent1>
      <a:accent2>
        <a:srgbClr val="CE93D8"/>
      </a:accent2>
      <a:accent3>
        <a:srgbClr val="4DB6AC"/>
      </a:accent3>
      <a:accent4>
        <a:srgbClr val="FF9800"/>
      </a:accent4>
      <a:accent5>
        <a:srgbClr val="009668"/>
      </a:accent5>
      <a:accent6>
        <a:srgbClr val="EEFF41"/>
      </a:accent6>
      <a:hlink>
        <a:srgbClr val="009668"/>
      </a:hlink>
      <a:folHlink>
        <a:srgbClr val="009668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42</TotalTime>
  <Words>283</Words>
  <Application>Microsoft Office PowerPoint</Application>
  <PresentationFormat>Экран (16:9)</PresentationFormat>
  <Paragraphs>114</Paragraphs>
  <Slides>14</Slides>
  <Notes>14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2" baseType="lpstr">
      <vt:lpstr>Arial</vt:lpstr>
      <vt:lpstr>Open Sans</vt:lpstr>
      <vt:lpstr>MS Mincho</vt:lpstr>
      <vt:lpstr>PT Sans Narrow</vt:lpstr>
      <vt:lpstr>Cambria Math</vt:lpstr>
      <vt:lpstr>Times New Roman</vt:lpstr>
      <vt:lpstr>Calibri</vt:lpstr>
      <vt:lpstr>Tropic</vt:lpstr>
      <vt:lpstr>Дослідження методів використання ігрових рушіїв на мові програмування JavaScript. Алгоритми процедурної генерації для створення ігрових рівнів</vt:lpstr>
      <vt:lpstr>Вступ</vt:lpstr>
      <vt:lpstr>Актуальність</vt:lpstr>
      <vt:lpstr>Мета роботи</vt:lpstr>
      <vt:lpstr>Архітектура</vt:lpstr>
      <vt:lpstr>Представлення рівня</vt:lpstr>
      <vt:lpstr>Алгоритми</vt:lpstr>
      <vt:lpstr>Алгоритми</vt:lpstr>
      <vt:lpstr>Комбінований алгоритм</vt:lpstr>
      <vt:lpstr>Метрики</vt:lpstr>
      <vt:lpstr>Проведення експерименту</vt:lpstr>
      <vt:lpstr>Багатокритеріальна оцінка</vt:lpstr>
      <vt:lpstr>Висновки</vt:lpstr>
      <vt:lpstr>Дякую за увагу!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Дослідження методів використання ігрових рушіїв на мові програмування JavaScript. Алгоритми процедурної генерації для створення ігрових рівнів</dc:title>
  <cp:lastModifiedBy>admin</cp:lastModifiedBy>
  <cp:revision>23</cp:revision>
  <dcterms:modified xsi:type="dcterms:W3CDTF">2026-05-12T12:49:42Z</dcterms:modified>
</cp:coreProperties>
</file>